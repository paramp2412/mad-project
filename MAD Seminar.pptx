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Inconsolata" pitchFamily="1" charset="0"/>
      <p:regular r:id="rId13"/>
    </p:embeddedFont>
    <p:embeddedFont>
      <p:font typeface="Inconsolata Bold" pitchFamily="1" charset="0"/>
      <p:regular r:id="rId14"/>
      <p:bold r:id="rId15"/>
    </p:embeddedFont>
    <p:embeddedFont>
      <p:font typeface="Montserrat Bold" panose="020B0604020202020204" charset="0"/>
      <p:regular r:id="rId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9303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seminar on AI and machine learning in mobile applications. We will connect the basic ideas to tools, workflows, and familiar mobile experiences. The goal is to understand how intelligent features are built and why responsible design matters.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apps are becoming more aware of the world around them. They can work with images, speech, text, location, and user intent. The important point is that the user experiences assistance, not the technical complexity behind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describes the broad idea of software doing tasks that we associate with human intelligence. Machine learning is one important way to create those abilities. A spam filter is a simple example because it learns patterns from labeled messages and then predicts what a new message means.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technology progression, not a list of dates to memorize. AI began with rules and problem solving, then moved toward statistical learning. Smartphones supplied sensors and specialized chips, while deep learning improved vision, speech, and language features. Today, mobile apps can combine device models, cloud services, and generative AI.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already use mobile AI without calling it AI. Cameras detect faces, voice assistants interpret speech, and maps estimate routes. Translation, image recognition, and recommendation systems are also everyday examples.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prediction begins long before the user sees an answer. First, examples are collected and the task is defined. The model is trained and tested, then integrated into the app. Only after that does it process new input and return a prediction.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two common routes for mobile AI. An on-device model processes the input on the phone, which can reduce delay, support offline use, and keep data local. A cloud-based service can provide more computing power for larger models. The correct choice depends on the task and its privacy, speed, cost, and connectivity needs.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toolchain connects several kinds of work. Android Studio, Kotlin, and Swift support application development, while Python is common for preparing data and experimenting with models. Google ML Kit provides ready-to-use mobile APIs, and LiteRT and Apple Core ML help deploy optimized models on supported devices.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mobile AI is often small and focused. It may guide a route, improve a photo, help someone search for a product, capture a document, or make visible content accessible. Each use case still needs testing, consent, error handling, and a fallback that helps the person when the model is wrong.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Mobile AI can make an app faster, more personal, more accessible, and sometimes available offline. But speed does not automatically create trust. Designers must consider privacy, security, bias, inaccurate predictions, battery limits, and different devices. Responsible design measures errors, protects data, and keeps the user in control.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BFF"/>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315017" cy="6858000"/>
          </a:xfrm>
          <a:prstGeom prst="rect">
            <a:avLst/>
          </a:prstGeom>
          <a:solidFill>
            <a:srgbClr val="000000"/>
          </a:solidFill>
          <a:ln/>
        </p:spPr>
      </p:sp>
      <p:sp>
        <p:nvSpPr>
          <p:cNvPr id="3" name="Text 1"/>
          <p:cNvSpPr/>
          <p:nvPr/>
        </p:nvSpPr>
        <p:spPr>
          <a:xfrm>
            <a:off x="609585" y="609600"/>
            <a:ext cx="6705432" cy="179983"/>
          </a:xfrm>
          <a:prstGeom prst="rect">
            <a:avLst/>
          </a:prstGeom>
          <a:noFill/>
          <a:ln/>
        </p:spPr>
        <p:txBody>
          <a:bodyPr wrap="none" lIns="0" tIns="0" rIns="0" bIns="0" rtlCol="0" anchor="t"/>
          <a:lstStyle/>
          <a:p>
            <a:pPr marL="0" indent="0" algn="l">
              <a:lnSpc>
                <a:spcPct val="113000"/>
              </a:lnSpc>
              <a:buNone/>
            </a:pPr>
            <a:r>
              <a:rPr lang="en-US" sz="1050" kern="100" spc="63" dirty="0">
                <a:solidFill>
                  <a:srgbClr val="FFFFFF"/>
                </a:solidFill>
                <a:latin typeface="Inconsolata" pitchFamily="34" charset="0"/>
                <a:ea typeface="Inconsolata" pitchFamily="34" charset="-122"/>
                <a:cs typeface="Inconsolata" pitchFamily="34" charset="-120"/>
              </a:rPr>
              <a:t>MOBILE AI / SEMINAR</a:t>
            </a:r>
            <a:endParaRPr lang="en-US" sz="1050" dirty="0"/>
          </a:p>
        </p:txBody>
      </p:sp>
      <p:sp>
        <p:nvSpPr>
          <p:cNvPr id="4" name="Text 2"/>
          <p:cNvSpPr/>
          <p:nvPr/>
        </p:nvSpPr>
        <p:spPr>
          <a:xfrm>
            <a:off x="609585" y="2940983"/>
            <a:ext cx="6095848" cy="2336602"/>
          </a:xfrm>
          <a:prstGeom prst="rect">
            <a:avLst/>
          </a:prstGeom>
          <a:noFill/>
          <a:ln/>
        </p:spPr>
        <p:txBody>
          <a:bodyPr wrap="square" lIns="0" tIns="0" rIns="0" bIns="0" rtlCol="0" anchor="t">
            <a:normAutofit/>
          </a:bodyPr>
          <a:lstStyle/>
          <a:p>
            <a:pPr marL="0" indent="0" algn="l">
              <a:lnSpc>
                <a:spcPct val="67000"/>
              </a:lnSpc>
              <a:buNone/>
            </a:pPr>
            <a:r>
              <a:rPr lang="en-US" sz="4600" b="1" dirty="0">
                <a:solidFill>
                  <a:srgbClr val="FFFFFF"/>
                </a:solidFill>
                <a:latin typeface="Montserrat Bold" pitchFamily="34" charset="0"/>
                <a:ea typeface="Montserrat Bold" pitchFamily="34" charset="-122"/>
                <a:cs typeface="Montserrat Bold" pitchFamily="34" charset="-120"/>
              </a:rPr>
              <a:t>AI AND</a:t>
            </a:r>
            <a:endParaRPr lang="en-US" sz="4600" dirty="0"/>
          </a:p>
          <a:p>
            <a:pPr marL="0" indent="0" algn="l">
              <a:lnSpc>
                <a:spcPct val="67000"/>
              </a:lnSpc>
              <a:buNone/>
            </a:pPr>
            <a:r>
              <a:rPr lang="en-US" sz="4600" b="1" dirty="0">
                <a:solidFill>
                  <a:srgbClr val="FFFFFF"/>
                </a:solidFill>
                <a:latin typeface="Montserrat Bold" pitchFamily="34" charset="0"/>
                <a:ea typeface="Montserrat Bold" pitchFamily="34" charset="-122"/>
                <a:cs typeface="Montserrat Bold" pitchFamily="34" charset="-120"/>
              </a:rPr>
              <a:t>MACHINE LEARNING</a:t>
            </a:r>
            <a:endParaRPr lang="en-US" sz="4600" dirty="0"/>
          </a:p>
          <a:p>
            <a:pPr marL="0" indent="0" algn="l">
              <a:lnSpc>
                <a:spcPct val="67000"/>
              </a:lnSpc>
              <a:buNone/>
            </a:pPr>
            <a:r>
              <a:rPr lang="en-US" sz="4600" b="1" dirty="0">
                <a:solidFill>
                  <a:srgbClr val="FFFFFF"/>
                </a:solidFill>
                <a:latin typeface="Montserrat Bold" pitchFamily="34" charset="0"/>
                <a:ea typeface="Montserrat Bold" pitchFamily="34" charset="-122"/>
                <a:cs typeface="Montserrat Bold" pitchFamily="34" charset="-120"/>
              </a:rPr>
              <a:t>IN MOBILE APPLICATIONS</a:t>
            </a:r>
            <a:endParaRPr lang="en-US" sz="4600" dirty="0"/>
          </a:p>
        </p:txBody>
      </p:sp>
      <p:sp>
        <p:nvSpPr>
          <p:cNvPr id="5" name="Text 3"/>
          <p:cNvSpPr/>
          <p:nvPr/>
        </p:nvSpPr>
        <p:spPr>
          <a:xfrm>
            <a:off x="609585" y="5321399"/>
            <a:ext cx="6705432" cy="240010"/>
          </a:xfrm>
          <a:prstGeom prst="rect">
            <a:avLst/>
          </a:prstGeom>
          <a:noFill/>
          <a:ln/>
        </p:spPr>
        <p:txBody>
          <a:bodyPr wrap="none" lIns="0" tIns="0" rIns="0" bIns="0" rtlCol="0" anchor="t"/>
          <a:lstStyle/>
          <a:p>
            <a:pPr marL="0" indent="0" algn="l">
              <a:lnSpc>
                <a:spcPct val="112000"/>
              </a:lnSpc>
              <a:buNone/>
            </a:pPr>
            <a:r>
              <a:rPr lang="en-US" sz="1400" dirty="0">
                <a:solidFill>
                  <a:srgbClr val="FFFFFF"/>
                </a:solidFill>
                <a:latin typeface="Inconsolata" pitchFamily="34" charset="0"/>
                <a:ea typeface="Inconsolata" pitchFamily="34" charset="-122"/>
                <a:cs typeface="Inconsolata" pitchFamily="34" charset="-120"/>
              </a:rPr>
              <a:t>Seminar on Mobile Application Development Technologies</a:t>
            </a:r>
            <a:endParaRPr lang="en-US" sz="1400" dirty="0"/>
          </a:p>
        </p:txBody>
      </p:sp>
      <p:sp>
        <p:nvSpPr>
          <p:cNvPr id="6" name="Text 4"/>
          <p:cNvSpPr/>
          <p:nvPr/>
        </p:nvSpPr>
        <p:spPr>
          <a:xfrm>
            <a:off x="609585" y="5764609"/>
            <a:ext cx="6095848" cy="483791"/>
          </a:xfrm>
          <a:prstGeom prst="rect">
            <a:avLst/>
          </a:prstGeom>
          <a:noFill/>
          <a:ln/>
        </p:spPr>
        <p:txBody>
          <a:bodyPr wrap="square" lIns="0" tIns="0" rIns="0" bIns="0" rtlCol="0" anchor="t"/>
          <a:lstStyle/>
          <a:p>
            <a:pPr marL="0" indent="0" algn="l">
              <a:lnSpc>
                <a:spcPct val="113000"/>
              </a:lnSpc>
              <a:spcAft>
                <a:spcPts val="950"/>
              </a:spcAft>
              <a:buNone/>
            </a:pPr>
            <a:r>
              <a:rPr lang="en-US" sz="1050" dirty="0">
                <a:solidFill>
                  <a:srgbClr val="FFFFFF"/>
                </a:solidFill>
                <a:latin typeface="Inconsolata" pitchFamily="34" charset="0"/>
                <a:ea typeface="Inconsolata" pitchFamily="34" charset="-122"/>
                <a:cs typeface="Inconsolata" pitchFamily="34" charset="-120"/>
              </a:rPr>
              <a:t>Presented by: Param Parikh · Roll number: 12302080601093</a:t>
            </a:r>
          </a:p>
          <a:p>
            <a:pPr marL="0" indent="0" algn="l">
              <a:lnSpc>
                <a:spcPct val="113000"/>
              </a:lnSpc>
              <a:spcAft>
                <a:spcPts val="950"/>
              </a:spcAft>
              <a:buNone/>
            </a:pPr>
            <a:r>
              <a:rPr lang="en-US" sz="1050" dirty="0">
                <a:solidFill>
                  <a:srgbClr val="FFFFFF"/>
                </a:solidFill>
                <a:latin typeface="Inconsolata" pitchFamily="34" charset="0"/>
                <a:ea typeface="Inconsolata" pitchFamily="34" charset="-122"/>
                <a:cs typeface="Inconsolata" pitchFamily="34" charset="-120"/>
              </a:rPr>
              <a:t>Presented by: </a:t>
            </a:r>
            <a:r>
              <a:rPr lang="en-US" sz="1050">
                <a:solidFill>
                  <a:srgbClr val="FFFFFF"/>
                </a:solidFill>
                <a:latin typeface="Inconsolata" pitchFamily="34" charset="0"/>
                <a:ea typeface="Inconsolata" pitchFamily="34" charset="-122"/>
                <a:cs typeface="Inconsolata" pitchFamily="34" charset="-120"/>
              </a:rPr>
              <a:t>Devansh Prajapati </a:t>
            </a:r>
            <a:r>
              <a:rPr lang="en-US" sz="1050" dirty="0">
                <a:solidFill>
                  <a:srgbClr val="FFFFFF"/>
                </a:solidFill>
                <a:latin typeface="Inconsolata" pitchFamily="34" charset="0"/>
                <a:ea typeface="Inconsolata" pitchFamily="34" charset="-122"/>
                <a:cs typeface="Inconsolata" pitchFamily="34" charset="-120"/>
              </a:rPr>
              <a:t>· Roll number: 12302080601096</a:t>
            </a:r>
            <a:endParaRPr lang="en-US" sz="1050" dirty="0"/>
          </a:p>
          <a:p>
            <a:pPr marL="0" indent="0" algn="l">
              <a:lnSpc>
                <a:spcPct val="113000"/>
              </a:lnSpc>
              <a:buNone/>
            </a:pPr>
            <a:r>
              <a:rPr lang="en-US" sz="1050" dirty="0">
                <a:solidFill>
                  <a:srgbClr val="FFFFFF"/>
                </a:solidFill>
                <a:latin typeface="Inconsolata" pitchFamily="34" charset="0"/>
                <a:ea typeface="Inconsolata" pitchFamily="34" charset="-122"/>
                <a:cs typeface="Inconsolata" pitchFamily="34" charset="-120"/>
              </a:rPr>
              <a:t>Faculty: Nayankumar Mali · College: ADIT</a:t>
            </a:r>
            <a:endParaRPr lang="en-US" sz="1050" dirty="0"/>
          </a:p>
        </p:txBody>
      </p:sp>
      <p:pic>
        <p:nvPicPr>
          <p:cNvPr id="7" name="Image 0" descr="preencoded.png"/>
          <p:cNvPicPr>
            <a:picLocks noChangeAspect="1"/>
          </p:cNvPicPr>
          <p:nvPr/>
        </p:nvPicPr>
        <p:blipFill>
          <a:blip r:embed="rId3"/>
          <a:stretch>
            <a:fillRect/>
          </a:stretch>
        </p:blipFill>
        <p:spPr>
          <a:xfrm>
            <a:off x="7315017" y="0"/>
            <a:ext cx="4876678"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1903313"/>
          </a:xfrm>
          <a:prstGeom prst="rect">
            <a:avLst/>
          </a:prstGeom>
          <a:solidFill>
            <a:srgbClr val="F0EDE9"/>
          </a:solidFill>
          <a:ln/>
        </p:spPr>
      </p:sp>
      <p:sp>
        <p:nvSpPr>
          <p:cNvPr id="3" name="Text 1"/>
          <p:cNvSpPr/>
          <p:nvPr/>
        </p:nvSpPr>
        <p:spPr>
          <a:xfrm>
            <a:off x="609585" y="609600"/>
            <a:ext cx="11582110" cy="179983"/>
          </a:xfrm>
          <a:prstGeom prst="rect">
            <a:avLst/>
          </a:prstGeom>
          <a:noFill/>
          <a:ln/>
        </p:spPr>
        <p:txBody>
          <a:bodyPr wrap="none" lIns="0" tIns="0" rIns="0" bIns="0" rtlCol="0" anchor="t"/>
          <a:lstStyle/>
          <a:p>
            <a:pPr marL="0" indent="0" algn="l">
              <a:lnSpc>
                <a:spcPct val="113000"/>
              </a:lnSpc>
              <a:buNone/>
            </a:pPr>
            <a:r>
              <a:rPr lang="en-US" sz="1050" kern="100" spc="63" dirty="0">
                <a:solidFill>
                  <a:srgbClr val="000000"/>
                </a:solidFill>
                <a:latin typeface="Inconsolata" pitchFamily="34" charset="0"/>
                <a:ea typeface="Inconsolata" pitchFamily="34" charset="-122"/>
                <a:cs typeface="Inconsolata" pitchFamily="34" charset="-120"/>
              </a:rPr>
              <a:t>THE SHIFT</a:t>
            </a:r>
            <a:endParaRPr lang="en-US" sz="1050" dirty="0"/>
          </a:p>
        </p:txBody>
      </p:sp>
      <p:sp>
        <p:nvSpPr>
          <p:cNvPr id="4" name="Text 2"/>
          <p:cNvSpPr/>
          <p:nvPr/>
        </p:nvSpPr>
        <p:spPr>
          <a:xfrm>
            <a:off x="609585" y="869251"/>
            <a:ext cx="10972526" cy="446980"/>
          </a:xfrm>
          <a:prstGeom prst="rect">
            <a:avLst/>
          </a:prstGeom>
          <a:noFill/>
          <a:ln/>
        </p:spPr>
        <p:txBody>
          <a:bodyPr wrap="none" lIns="0" tIns="0" rIns="0" bIns="0" rtlCol="0" anchor="t"/>
          <a:lstStyle/>
          <a:p>
            <a:pPr marL="0" indent="0" algn="l">
              <a:lnSpc>
                <a:spcPct val="92000"/>
              </a:lnSpc>
              <a:buNone/>
            </a:pPr>
            <a:r>
              <a:rPr lang="en-US" sz="3200" b="1" dirty="0">
                <a:solidFill>
                  <a:srgbClr val="000000"/>
                </a:solidFill>
                <a:latin typeface="Montserrat Bold" pitchFamily="34" charset="0"/>
                <a:ea typeface="Montserrat Bold" pitchFamily="34" charset="-122"/>
                <a:cs typeface="Montserrat Bold" pitchFamily="34" charset="-120"/>
              </a:rPr>
              <a:t>MOBILE APPS ARE BECOMING MORE AWARE</a:t>
            </a:r>
            <a:endParaRPr lang="en-US" sz="3200" dirty="0"/>
          </a:p>
        </p:txBody>
      </p:sp>
      <p:pic>
        <p:nvPicPr>
          <p:cNvPr id="5" name="Image 0" descr="preencoded.png"/>
          <p:cNvPicPr>
            <a:picLocks noChangeAspect="1"/>
          </p:cNvPicPr>
          <p:nvPr/>
        </p:nvPicPr>
        <p:blipFill>
          <a:blip r:embed="rId3"/>
          <a:stretch>
            <a:fillRect/>
          </a:stretch>
        </p:blipFill>
        <p:spPr>
          <a:xfrm>
            <a:off x="609585" y="2632869"/>
            <a:ext cx="444489" cy="444500"/>
          </a:xfrm>
          <a:prstGeom prst="rect">
            <a:avLst/>
          </a:prstGeom>
        </p:spPr>
      </p:pic>
      <p:sp>
        <p:nvSpPr>
          <p:cNvPr id="6" name="Text 3"/>
          <p:cNvSpPr/>
          <p:nvPr/>
        </p:nvSpPr>
        <p:spPr>
          <a:xfrm>
            <a:off x="609585" y="3327761"/>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See</a:t>
            </a:r>
            <a:endParaRPr lang="en-US" sz="2000" dirty="0"/>
          </a:p>
        </p:txBody>
      </p:sp>
      <p:sp>
        <p:nvSpPr>
          <p:cNvPr id="7" name="Text 4"/>
          <p:cNvSpPr/>
          <p:nvPr/>
        </p:nvSpPr>
        <p:spPr>
          <a:xfrm>
            <a:off x="609585" y="3690144"/>
            <a:ext cx="4724282" cy="72003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AI helps apps understand images, faces, objects, and text. Camera enhancement and translation are examples.</a:t>
            </a:r>
            <a:endParaRPr lang="en-US" sz="1400" dirty="0"/>
          </a:p>
        </p:txBody>
      </p:sp>
      <p:pic>
        <p:nvPicPr>
          <p:cNvPr id="8" name="Image 1" descr="preencoded.png"/>
          <p:cNvPicPr>
            <a:picLocks noChangeAspect="1"/>
          </p:cNvPicPr>
          <p:nvPr/>
        </p:nvPicPr>
        <p:blipFill>
          <a:blip r:embed="rId4"/>
          <a:stretch>
            <a:fillRect/>
          </a:stretch>
        </p:blipFill>
        <p:spPr>
          <a:xfrm>
            <a:off x="609585" y="4533999"/>
            <a:ext cx="177796" cy="177800"/>
          </a:xfrm>
          <a:prstGeom prst="rect">
            <a:avLst/>
          </a:prstGeom>
        </p:spPr>
      </p:pic>
      <p:sp>
        <p:nvSpPr>
          <p:cNvPr id="9" name="Text 5"/>
          <p:cNvSpPr/>
          <p:nvPr/>
        </p:nvSpPr>
        <p:spPr>
          <a:xfrm>
            <a:off x="609585" y="5024402"/>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Sense context</a:t>
            </a:r>
            <a:endParaRPr lang="en-US" sz="2000" dirty="0"/>
          </a:p>
        </p:txBody>
      </p:sp>
      <p:sp>
        <p:nvSpPr>
          <p:cNvPr id="10" name="Text 6"/>
          <p:cNvSpPr/>
          <p:nvPr/>
        </p:nvSpPr>
        <p:spPr>
          <a:xfrm>
            <a:off x="609585" y="5386784"/>
            <a:ext cx="4724282"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Smart maps use location, movement, and changing conditions to guide users.</a:t>
            </a:r>
            <a:endParaRPr lang="en-US" sz="1400" dirty="0"/>
          </a:p>
        </p:txBody>
      </p:sp>
      <p:pic>
        <p:nvPicPr>
          <p:cNvPr id="11" name="Image 2" descr="preencoded.png"/>
          <p:cNvPicPr>
            <a:picLocks noChangeAspect="1"/>
          </p:cNvPicPr>
          <p:nvPr/>
        </p:nvPicPr>
        <p:blipFill>
          <a:blip r:embed="rId5"/>
          <a:stretch>
            <a:fillRect/>
          </a:stretch>
        </p:blipFill>
        <p:spPr>
          <a:xfrm>
            <a:off x="6857828" y="2512913"/>
            <a:ext cx="444489" cy="444500"/>
          </a:xfrm>
          <a:prstGeom prst="rect">
            <a:avLst/>
          </a:prstGeom>
        </p:spPr>
      </p:pic>
      <p:sp>
        <p:nvSpPr>
          <p:cNvPr id="12" name="Text 7"/>
          <p:cNvSpPr/>
          <p:nvPr/>
        </p:nvSpPr>
        <p:spPr>
          <a:xfrm>
            <a:off x="6857828" y="3207806"/>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Hear</a:t>
            </a:r>
            <a:endParaRPr lang="en-US" sz="2000" dirty="0"/>
          </a:p>
        </p:txBody>
      </p:sp>
      <p:sp>
        <p:nvSpPr>
          <p:cNvPr id="13" name="Text 8"/>
          <p:cNvSpPr/>
          <p:nvPr/>
        </p:nvSpPr>
        <p:spPr>
          <a:xfrm>
            <a:off x="6857828" y="3570188"/>
            <a:ext cx="4724282"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AI helps apps understand speech and user intent; voice search turns speech into commands or text.</a:t>
            </a:r>
            <a:endParaRPr lang="en-US" sz="1400" dirty="0"/>
          </a:p>
        </p:txBody>
      </p:sp>
      <p:pic>
        <p:nvPicPr>
          <p:cNvPr id="14" name="Image 3" descr="preencoded.png"/>
          <p:cNvPicPr>
            <a:picLocks noChangeAspect="1"/>
          </p:cNvPicPr>
          <p:nvPr/>
        </p:nvPicPr>
        <p:blipFill>
          <a:blip r:embed="rId6"/>
          <a:stretch>
            <a:fillRect/>
          </a:stretch>
        </p:blipFill>
        <p:spPr>
          <a:xfrm>
            <a:off x="6857828" y="4174034"/>
            <a:ext cx="177796" cy="177800"/>
          </a:xfrm>
          <a:prstGeom prst="rect">
            <a:avLst/>
          </a:prstGeom>
        </p:spPr>
      </p:pic>
      <p:sp>
        <p:nvSpPr>
          <p:cNvPr id="15" name="Text 9"/>
          <p:cNvSpPr/>
          <p:nvPr/>
        </p:nvSpPr>
        <p:spPr>
          <a:xfrm>
            <a:off x="6857828" y="4664436"/>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Assist</a:t>
            </a:r>
            <a:endParaRPr lang="en-US" sz="2000" dirty="0"/>
          </a:p>
        </p:txBody>
      </p:sp>
      <p:sp>
        <p:nvSpPr>
          <p:cNvPr id="16" name="Text 10"/>
          <p:cNvSpPr/>
          <p:nvPr/>
        </p:nvSpPr>
        <p:spPr>
          <a:xfrm>
            <a:off x="6857828" y="5026819"/>
            <a:ext cx="4724282" cy="960041"/>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Machine learning improves from examples, not only fixed rules, supporting recommendations. The goal is useful assistance without making users manage complexity.</a:t>
            </a:r>
            <a:endParaRPr lang="en-US" sz="1400" dirty="0"/>
          </a:p>
        </p:txBody>
      </p:sp>
      <p:sp>
        <p:nvSpPr>
          <p:cNvPr id="17" name="Shape 11"/>
          <p:cNvSpPr/>
          <p:nvPr/>
        </p:nvSpPr>
        <p:spPr>
          <a:xfrm>
            <a:off x="0" y="6248400"/>
            <a:ext cx="12191695" cy="609600"/>
          </a:xfrm>
          <a:prstGeom prst="rect">
            <a:avLst/>
          </a:prstGeom>
          <a:solidFill>
            <a:srgbClr val="F7FBFF"/>
          </a:solidFill>
          <a:ln/>
        </p:spPr>
      </p:sp>
      <p:sp>
        <p:nvSpPr>
          <p:cNvPr id="18" name="Shape 12"/>
          <p:cNvSpPr/>
          <p:nvPr/>
        </p:nvSpPr>
        <p:spPr>
          <a:xfrm>
            <a:off x="0" y="6248400"/>
            <a:ext cx="12191695" cy="9525"/>
          </a:xfrm>
          <a:prstGeom prst="rect">
            <a:avLst/>
          </a:prstGeom>
          <a:solidFill>
            <a:srgbClr val="000000">
              <a:alpha val="20000"/>
            </a:srgbClr>
          </a:solidFill>
          <a:ln/>
        </p:spPr>
      </p:sp>
      <p:sp>
        <p:nvSpPr>
          <p:cNvPr id="19" name="Text 13"/>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20" name="Text 14"/>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21" name="Text 15"/>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02 / 10</a:t>
            </a:r>
            <a:endParaRPr lang="en-US" sz="1000" dirty="0"/>
          </a:p>
        </p:txBody>
      </p:sp>
      <p:sp>
        <p:nvSpPr>
          <p:cNvPr id="22" name="Text 16"/>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60913"/>
            <a:ext cx="10972526" cy="1341041"/>
          </a:xfrm>
          <a:prstGeom prst="rect">
            <a:avLst/>
          </a:prstGeom>
          <a:noFill/>
          <a:ln/>
        </p:spPr>
        <p:txBody>
          <a:bodyPr wrap="square" lIns="0" tIns="0" rIns="0" bIns="0" rtlCol="0" anchor="t">
            <a:normAutofit/>
          </a:bodyPr>
          <a:lstStyle/>
          <a:p>
            <a:pPr marL="0" indent="0" algn="l">
              <a:lnSpc>
                <a:spcPct val="92000"/>
              </a:lnSpc>
              <a:buNone/>
            </a:pPr>
            <a:r>
              <a:rPr lang="en-US" sz="4800" b="1" dirty="0">
                <a:solidFill>
                  <a:srgbClr val="071B33"/>
                </a:solidFill>
                <a:latin typeface="Montserrat Bold" pitchFamily="34" charset="0"/>
                <a:ea typeface="Montserrat Bold" pitchFamily="34" charset="-122"/>
                <a:cs typeface="Montserrat Bold" pitchFamily="34" charset="-120"/>
              </a:rPr>
              <a:t>AI IS THE BIG IDEA. ML IS ONE WAY TO BUILD IT.</a:t>
            </a:r>
            <a:endParaRPr lang="en-US" sz="4800" dirty="0"/>
          </a:p>
        </p:txBody>
      </p:sp>
      <p:sp>
        <p:nvSpPr>
          <p:cNvPr id="3" name="Text 1"/>
          <p:cNvSpPr/>
          <p:nvPr/>
        </p:nvSpPr>
        <p:spPr>
          <a:xfrm>
            <a:off x="609585" y="2104628"/>
            <a:ext cx="11582110" cy="240010"/>
          </a:xfrm>
          <a:prstGeom prst="rect">
            <a:avLst/>
          </a:prstGeom>
          <a:noFill/>
          <a:ln/>
        </p:spPr>
        <p:txBody>
          <a:bodyPr wrap="none" lIns="0" tIns="0" rIns="0" bIns="0" rtlCol="0" anchor="t"/>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Artificial intelligence is the wider goal; machine learning is a major method inside it.</a:t>
            </a:r>
            <a:endParaRPr lang="en-US" sz="1400" dirty="0"/>
          </a:p>
        </p:txBody>
      </p:sp>
      <p:sp>
        <p:nvSpPr>
          <p:cNvPr id="4" name="Shape 2"/>
          <p:cNvSpPr/>
          <p:nvPr/>
        </p:nvSpPr>
        <p:spPr>
          <a:xfrm>
            <a:off x="0" y="3276600"/>
            <a:ext cx="5943451" cy="2971800"/>
          </a:xfrm>
          <a:prstGeom prst="rect">
            <a:avLst/>
          </a:prstGeom>
          <a:solidFill>
            <a:srgbClr val="F0EDE9"/>
          </a:solidFill>
          <a:ln/>
        </p:spPr>
      </p:sp>
      <p:sp>
        <p:nvSpPr>
          <p:cNvPr id="5" name="Text 3"/>
          <p:cNvSpPr/>
          <p:nvPr/>
        </p:nvSpPr>
        <p:spPr>
          <a:xfrm>
            <a:off x="609585" y="4228965"/>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000000"/>
                </a:solidFill>
                <a:latin typeface="Montserrat Bold" pitchFamily="34" charset="0"/>
                <a:ea typeface="Montserrat Bold" pitchFamily="34" charset="-122"/>
                <a:cs typeface="Montserrat Bold" pitchFamily="34" charset="-120"/>
              </a:rPr>
              <a:t>Artificial Intelligence</a:t>
            </a:r>
            <a:endParaRPr lang="en-US" sz="2000" dirty="0"/>
          </a:p>
        </p:txBody>
      </p:sp>
      <p:sp>
        <p:nvSpPr>
          <p:cNvPr id="6" name="Text 4"/>
          <p:cNvSpPr/>
          <p:nvPr/>
        </p:nvSpPr>
        <p:spPr>
          <a:xfrm>
            <a:off x="609585" y="4591348"/>
            <a:ext cx="4724282" cy="72003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000000"/>
                </a:solidFill>
                <a:latin typeface="Inconsolata" pitchFamily="34" charset="0"/>
                <a:ea typeface="Inconsolata" pitchFamily="34" charset="-122"/>
                <a:cs typeface="Inconsolata" pitchFamily="34" charset="-120"/>
              </a:rPr>
              <a:t>Software that performs tasks associated with human intelligence, such as understanding language, recognizing images, or making decisions.</a:t>
            </a:r>
            <a:endParaRPr lang="en-US" sz="1400" dirty="0"/>
          </a:p>
        </p:txBody>
      </p:sp>
      <p:sp>
        <p:nvSpPr>
          <p:cNvPr id="7" name="Shape 5"/>
          <p:cNvSpPr/>
          <p:nvPr/>
        </p:nvSpPr>
        <p:spPr>
          <a:xfrm>
            <a:off x="6248244" y="3276600"/>
            <a:ext cx="5943451" cy="2971800"/>
          </a:xfrm>
          <a:prstGeom prst="rect">
            <a:avLst/>
          </a:prstGeom>
          <a:solidFill>
            <a:srgbClr val="EAEEF2"/>
          </a:solidFill>
          <a:ln/>
        </p:spPr>
      </p:sp>
      <p:sp>
        <p:nvSpPr>
          <p:cNvPr id="8" name="Text 6"/>
          <p:cNvSpPr/>
          <p:nvPr/>
        </p:nvSpPr>
        <p:spPr>
          <a:xfrm>
            <a:off x="6857828" y="4047097"/>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Machine Learning</a:t>
            </a:r>
            <a:endParaRPr lang="en-US" sz="2000" dirty="0"/>
          </a:p>
        </p:txBody>
      </p:sp>
      <p:sp>
        <p:nvSpPr>
          <p:cNvPr id="9" name="Text 7"/>
          <p:cNvSpPr/>
          <p:nvPr/>
        </p:nvSpPr>
        <p:spPr>
          <a:xfrm>
            <a:off x="6857828" y="4409480"/>
            <a:ext cx="4724282" cy="1083866"/>
          </a:xfrm>
          <a:prstGeom prst="rect">
            <a:avLst/>
          </a:prstGeom>
          <a:noFill/>
          <a:ln/>
        </p:spPr>
        <p:txBody>
          <a:bodyPr wrap="square" lIns="0" tIns="0" rIns="0" bIns="0" rtlCol="0" anchor="t">
            <a:normAutofit/>
          </a:bodyPr>
          <a:lstStyle/>
          <a:p>
            <a:pPr marL="0" indent="0" algn="l">
              <a:lnSpc>
                <a:spcPct val="112000"/>
              </a:lnSpc>
              <a:spcAft>
                <a:spcPts val="950"/>
              </a:spcAft>
              <a:buNone/>
            </a:pPr>
            <a:r>
              <a:rPr lang="en-US" sz="1400" dirty="0">
                <a:solidFill>
                  <a:srgbClr val="16324F"/>
                </a:solidFill>
                <a:latin typeface="Inconsolata" pitchFamily="34" charset="0"/>
                <a:ea typeface="Inconsolata" pitchFamily="34" charset="-122"/>
                <a:cs typeface="Inconsolata" pitchFamily="34" charset="-120"/>
              </a:rPr>
              <a:t>A method that learns patterns from examples to make predictions or decisions.</a:t>
            </a:r>
            <a:endParaRPr lang="en-US" sz="1400" dirty="0"/>
          </a:p>
          <a:p>
            <a:pPr marL="0" indent="0" algn="l">
              <a:lnSpc>
                <a:spcPct val="112000"/>
              </a:lnSpc>
              <a:buNone/>
            </a:pPr>
            <a:r>
              <a:rPr lang="en-US" sz="1400" b="1" dirty="0">
                <a:solidFill>
                  <a:srgbClr val="16324F"/>
                </a:solidFill>
                <a:latin typeface="Inconsolata Bold" pitchFamily="34" charset="0"/>
                <a:ea typeface="Inconsolata Bold" pitchFamily="34" charset="-122"/>
                <a:cs typeface="Inconsolata Bold" pitchFamily="34" charset="-120"/>
              </a:rPr>
              <a:t>Simple example:</a:t>
            </a:r>
            <a:r>
              <a:rPr lang="en-US" sz="1400" dirty="0">
                <a:solidFill>
                  <a:srgbClr val="16324F"/>
                </a:solidFill>
                <a:latin typeface="Inconsolata" pitchFamily="34" charset="0"/>
                <a:ea typeface="Inconsolata" pitchFamily="34" charset="-122"/>
                <a:cs typeface="Inconsolata" pitchFamily="34" charset="-120"/>
              </a:rPr>
              <a:t> a spam filter learns from labeled messages and predicts whether a new message is spam.</a:t>
            </a:r>
            <a:endParaRPr lang="en-US" sz="1400" dirty="0"/>
          </a:p>
        </p:txBody>
      </p:sp>
      <p:sp>
        <p:nvSpPr>
          <p:cNvPr id="10" name="Shape 8"/>
          <p:cNvSpPr/>
          <p:nvPr/>
        </p:nvSpPr>
        <p:spPr>
          <a:xfrm>
            <a:off x="0" y="6248400"/>
            <a:ext cx="12191695" cy="609600"/>
          </a:xfrm>
          <a:prstGeom prst="rect">
            <a:avLst/>
          </a:prstGeom>
          <a:solidFill>
            <a:srgbClr val="F7FBFF"/>
          </a:solidFill>
          <a:ln/>
        </p:spPr>
      </p:sp>
      <p:sp>
        <p:nvSpPr>
          <p:cNvPr id="11" name="Shape 9"/>
          <p:cNvSpPr/>
          <p:nvPr/>
        </p:nvSpPr>
        <p:spPr>
          <a:xfrm>
            <a:off x="0" y="6248400"/>
            <a:ext cx="12191695" cy="9525"/>
          </a:xfrm>
          <a:prstGeom prst="rect">
            <a:avLst/>
          </a:prstGeom>
          <a:solidFill>
            <a:srgbClr val="000000">
              <a:alpha val="20000"/>
            </a:srgbClr>
          </a:solidFill>
          <a:ln/>
        </p:spPr>
      </p:sp>
      <p:sp>
        <p:nvSpPr>
          <p:cNvPr id="12" name="Text 10"/>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13" name="Text 11"/>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14" name="Text 12"/>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03 / 10</a:t>
            </a:r>
            <a:endParaRPr lang="en-US" sz="1000" dirty="0"/>
          </a:p>
        </p:txBody>
      </p:sp>
      <p:sp>
        <p:nvSpPr>
          <p:cNvPr id="15" name="Text 13"/>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09600"/>
            <a:ext cx="7315017" cy="179983"/>
          </a:xfrm>
          <a:prstGeom prst="rect">
            <a:avLst/>
          </a:prstGeom>
          <a:noFill/>
          <a:ln/>
        </p:spPr>
        <p:txBody>
          <a:bodyPr wrap="none" lIns="0" tIns="0" rIns="0" bIns="0" rtlCol="0" anchor="t"/>
          <a:lstStyle/>
          <a:p>
            <a:pPr marL="0" indent="0" algn="l">
              <a:lnSpc>
                <a:spcPct val="113000"/>
              </a:lnSpc>
              <a:buNone/>
            </a:pPr>
            <a:r>
              <a:rPr lang="en-US" sz="1050" kern="100" spc="63" dirty="0">
                <a:solidFill>
                  <a:srgbClr val="16324F"/>
                </a:solidFill>
                <a:latin typeface="Inconsolata" pitchFamily="34" charset="0"/>
                <a:ea typeface="Inconsolata" pitchFamily="34" charset="-122"/>
                <a:cs typeface="Inconsolata" pitchFamily="34" charset="-120"/>
              </a:rPr>
              <a:t>A SHORT HISTORY</a:t>
            </a:r>
            <a:endParaRPr lang="en-US" sz="1050" dirty="0"/>
          </a:p>
        </p:txBody>
      </p:sp>
      <p:sp>
        <p:nvSpPr>
          <p:cNvPr id="3" name="Text 1"/>
          <p:cNvSpPr/>
          <p:nvPr/>
        </p:nvSpPr>
        <p:spPr>
          <a:xfrm>
            <a:off x="609585" y="869251"/>
            <a:ext cx="6705432" cy="1340941"/>
          </a:xfrm>
          <a:prstGeom prst="rect">
            <a:avLst/>
          </a:prstGeom>
          <a:noFill/>
          <a:ln/>
        </p:spPr>
        <p:txBody>
          <a:bodyPr wrap="square" lIns="0" tIns="0" rIns="0" bIns="0" rtlCol="0" anchor="t">
            <a:normAutofit/>
          </a:bodyPr>
          <a:lstStyle/>
          <a:p>
            <a:pPr marL="0" indent="0" algn="l">
              <a:lnSpc>
                <a:spcPct val="92000"/>
              </a:lnSpc>
              <a:buNone/>
            </a:pPr>
            <a:r>
              <a:rPr lang="en-US" sz="3200" b="1" dirty="0">
                <a:solidFill>
                  <a:srgbClr val="071B33"/>
                </a:solidFill>
                <a:latin typeface="Montserrat Bold" pitchFamily="34" charset="0"/>
                <a:ea typeface="Montserrat Bold" pitchFamily="34" charset="-122"/>
                <a:cs typeface="Montserrat Bold" pitchFamily="34" charset="-120"/>
              </a:rPr>
              <a:t>AI MOVED FROM LAB EXPERIMENTS TO POCKET DEVICES</a:t>
            </a:r>
            <a:endParaRPr lang="en-US" sz="3200" dirty="0"/>
          </a:p>
        </p:txBody>
      </p:sp>
      <p:pic>
        <p:nvPicPr>
          <p:cNvPr id="4" name="Image 0" descr="preencoded.png"/>
          <p:cNvPicPr>
            <a:picLocks noChangeAspect="1"/>
          </p:cNvPicPr>
          <p:nvPr/>
        </p:nvPicPr>
        <p:blipFill>
          <a:blip r:embed="rId3"/>
          <a:stretch>
            <a:fillRect/>
          </a:stretch>
        </p:blipFill>
        <p:spPr>
          <a:xfrm>
            <a:off x="8229394" y="255587"/>
            <a:ext cx="1714457" cy="2286000"/>
          </a:xfrm>
          <a:prstGeom prst="rect">
            <a:avLst/>
          </a:prstGeom>
        </p:spPr>
      </p:pic>
      <p:sp>
        <p:nvSpPr>
          <p:cNvPr id="5" name="Shape 2"/>
          <p:cNvSpPr/>
          <p:nvPr/>
        </p:nvSpPr>
        <p:spPr>
          <a:xfrm>
            <a:off x="609585" y="3911699"/>
            <a:ext cx="10972526" cy="19050"/>
          </a:xfrm>
          <a:prstGeom prst="roundRect">
            <a:avLst>
              <a:gd name="adj" fmla="val 49999"/>
            </a:avLst>
          </a:prstGeom>
          <a:solidFill>
            <a:srgbClr val="CCCCCC"/>
          </a:solidFill>
          <a:ln/>
        </p:spPr>
      </p:sp>
      <p:sp>
        <p:nvSpPr>
          <p:cNvPr id="6" name="Shape 3"/>
          <p:cNvSpPr/>
          <p:nvPr/>
        </p:nvSpPr>
        <p:spPr>
          <a:xfrm>
            <a:off x="1608395" y="3911699"/>
            <a:ext cx="19050" cy="533400"/>
          </a:xfrm>
          <a:prstGeom prst="roundRect">
            <a:avLst>
              <a:gd name="adj" fmla="val 49999"/>
            </a:avLst>
          </a:prstGeom>
          <a:solidFill>
            <a:srgbClr val="CCCCCC"/>
          </a:solidFill>
          <a:ln/>
        </p:spPr>
      </p:sp>
      <p:sp>
        <p:nvSpPr>
          <p:cNvPr id="7" name="Shape 4"/>
          <p:cNvSpPr/>
          <p:nvPr/>
        </p:nvSpPr>
        <p:spPr>
          <a:xfrm>
            <a:off x="1417900" y="3711674"/>
            <a:ext cx="400040" cy="400050"/>
          </a:xfrm>
          <a:prstGeom prst="roundRect">
            <a:avLst>
              <a:gd name="adj" fmla="val 18667"/>
            </a:avLst>
          </a:prstGeom>
          <a:solidFill>
            <a:srgbClr val="E6E6E6"/>
          </a:solidFill>
          <a:ln w="6350">
            <a:solidFill>
              <a:srgbClr val="CCCCCC"/>
            </a:solidFill>
            <a:prstDash val="solid"/>
          </a:ln>
        </p:spPr>
      </p:sp>
      <p:sp>
        <p:nvSpPr>
          <p:cNvPr id="8" name="Text 5"/>
          <p:cNvSpPr/>
          <p:nvPr/>
        </p:nvSpPr>
        <p:spPr>
          <a:xfrm>
            <a:off x="1484573" y="3765054"/>
            <a:ext cx="266693" cy="293291"/>
          </a:xfrm>
          <a:prstGeom prst="rect">
            <a:avLst/>
          </a:prstGeom>
          <a:noFill/>
          <a:ln/>
        </p:spPr>
        <p:txBody>
          <a:bodyPr wrap="none" lIns="0" tIns="0" rIns="0" bIns="0" rtlCol="0" anchor="ctr"/>
          <a:lstStyle/>
          <a:p>
            <a:pPr marL="0" indent="0" algn="ctr">
              <a:lnSpc>
                <a:spcPct val="100000"/>
              </a:lnSpc>
              <a:buNone/>
            </a:pPr>
            <a:r>
              <a:rPr lang="en-US" sz="2100" b="1" dirty="0">
                <a:solidFill>
                  <a:srgbClr val="16324F"/>
                </a:solidFill>
                <a:latin typeface="Montserrat Bold" pitchFamily="34" charset="0"/>
                <a:ea typeface="Montserrat Bold" pitchFamily="34" charset="-122"/>
                <a:cs typeface="Montserrat Bold" pitchFamily="34" charset="-120"/>
              </a:rPr>
              <a:t>1</a:t>
            </a:r>
            <a:endParaRPr lang="en-US" sz="2100" dirty="0"/>
          </a:p>
        </p:txBody>
      </p:sp>
      <p:sp>
        <p:nvSpPr>
          <p:cNvPr id="9" name="Text 6"/>
          <p:cNvSpPr/>
          <p:nvPr/>
        </p:nvSpPr>
        <p:spPr>
          <a:xfrm>
            <a:off x="787380" y="4622899"/>
            <a:ext cx="1661079" cy="237430"/>
          </a:xfrm>
          <a:prstGeom prst="rect">
            <a:avLst/>
          </a:prstGeom>
          <a:noFill/>
          <a:ln/>
        </p:spPr>
        <p:txBody>
          <a:bodyPr wrap="none" lIns="0" tIns="0" rIns="0" bIns="0" rtlCol="0" anchor="t"/>
          <a:lstStyle/>
          <a:p>
            <a:pPr marL="0" indent="0" algn="ctr">
              <a:lnSpc>
                <a:spcPct val="92000"/>
              </a:lnSpc>
              <a:buNone/>
            </a:pPr>
            <a:r>
              <a:rPr lang="en-US" sz="1700" b="1" dirty="0">
                <a:solidFill>
                  <a:srgbClr val="16324F"/>
                </a:solidFill>
                <a:latin typeface="Montserrat Bold" pitchFamily="34" charset="0"/>
                <a:ea typeface="Montserrat Bold" pitchFamily="34" charset="-122"/>
                <a:cs typeface="Montserrat Bold" pitchFamily="34" charset="-120"/>
              </a:rPr>
              <a:t>Rules</a:t>
            </a:r>
            <a:endParaRPr lang="en-US" sz="1700" dirty="0"/>
          </a:p>
        </p:txBody>
      </p:sp>
      <p:sp>
        <p:nvSpPr>
          <p:cNvPr id="10" name="Text 7"/>
          <p:cNvSpPr/>
          <p:nvPr/>
        </p:nvSpPr>
        <p:spPr>
          <a:xfrm>
            <a:off x="787380" y="4966990"/>
            <a:ext cx="1661079" cy="960041"/>
          </a:xfrm>
          <a:prstGeom prst="rect">
            <a:avLst/>
          </a:prstGeom>
          <a:noFill/>
          <a:ln/>
        </p:spPr>
        <p:txBody>
          <a:bodyPr wrap="square" lIns="0" tIns="0" rIns="0" bIns="0" rtlCol="0" anchor="t">
            <a:normAutofit/>
          </a:bodyPr>
          <a:lstStyle/>
          <a:p>
            <a:pPr marL="0" indent="0" algn="ctr">
              <a:lnSpc>
                <a:spcPct val="112000"/>
              </a:lnSpc>
              <a:buNone/>
            </a:pPr>
            <a:r>
              <a:rPr lang="en-US" sz="1400" dirty="0">
                <a:solidFill>
                  <a:srgbClr val="16324F"/>
                </a:solidFill>
                <a:latin typeface="Inconsolata" pitchFamily="34" charset="0"/>
                <a:ea typeface="Inconsolata" pitchFamily="34" charset="-122"/>
                <a:cs typeface="Inconsolata" pitchFamily="34" charset="-120"/>
              </a:rPr>
              <a:t>Early AI research focused on symbolic rules and problem solving.</a:t>
            </a:r>
            <a:endParaRPr lang="en-US" sz="1400" dirty="0"/>
          </a:p>
        </p:txBody>
      </p:sp>
      <p:sp>
        <p:nvSpPr>
          <p:cNvPr id="11" name="Shape 8"/>
          <p:cNvSpPr/>
          <p:nvPr/>
        </p:nvSpPr>
        <p:spPr>
          <a:xfrm>
            <a:off x="3847309" y="3911699"/>
            <a:ext cx="19050" cy="533400"/>
          </a:xfrm>
          <a:prstGeom prst="roundRect">
            <a:avLst>
              <a:gd name="adj" fmla="val 49999"/>
            </a:avLst>
          </a:prstGeom>
          <a:solidFill>
            <a:srgbClr val="CCCCCC"/>
          </a:solidFill>
          <a:ln/>
        </p:spPr>
      </p:sp>
      <p:sp>
        <p:nvSpPr>
          <p:cNvPr id="12" name="Shape 9"/>
          <p:cNvSpPr/>
          <p:nvPr/>
        </p:nvSpPr>
        <p:spPr>
          <a:xfrm>
            <a:off x="3656814" y="3711674"/>
            <a:ext cx="400040" cy="400050"/>
          </a:xfrm>
          <a:prstGeom prst="roundRect">
            <a:avLst>
              <a:gd name="adj" fmla="val 18667"/>
            </a:avLst>
          </a:prstGeom>
          <a:solidFill>
            <a:srgbClr val="E6E6E6"/>
          </a:solidFill>
          <a:ln w="6350">
            <a:solidFill>
              <a:srgbClr val="CCCCCC"/>
            </a:solidFill>
            <a:prstDash val="solid"/>
          </a:ln>
        </p:spPr>
      </p:sp>
      <p:sp>
        <p:nvSpPr>
          <p:cNvPr id="13" name="Text 10"/>
          <p:cNvSpPr/>
          <p:nvPr/>
        </p:nvSpPr>
        <p:spPr>
          <a:xfrm>
            <a:off x="3723487" y="3765054"/>
            <a:ext cx="266693" cy="293291"/>
          </a:xfrm>
          <a:prstGeom prst="rect">
            <a:avLst/>
          </a:prstGeom>
          <a:noFill/>
          <a:ln/>
        </p:spPr>
        <p:txBody>
          <a:bodyPr wrap="none" lIns="0" tIns="0" rIns="0" bIns="0" rtlCol="0" anchor="ctr"/>
          <a:lstStyle/>
          <a:p>
            <a:pPr marL="0" indent="0" algn="ctr">
              <a:lnSpc>
                <a:spcPct val="100000"/>
              </a:lnSpc>
              <a:buNone/>
            </a:pPr>
            <a:r>
              <a:rPr lang="en-US" sz="2100" b="1" dirty="0">
                <a:solidFill>
                  <a:srgbClr val="16324F"/>
                </a:solidFill>
                <a:latin typeface="Montserrat Bold" pitchFamily="34" charset="0"/>
                <a:ea typeface="Montserrat Bold" pitchFamily="34" charset="-122"/>
                <a:cs typeface="Montserrat Bold" pitchFamily="34" charset="-120"/>
              </a:rPr>
              <a:t>2</a:t>
            </a:r>
            <a:endParaRPr lang="en-US" sz="2100" dirty="0"/>
          </a:p>
        </p:txBody>
      </p:sp>
      <p:sp>
        <p:nvSpPr>
          <p:cNvPr id="14" name="Text 11"/>
          <p:cNvSpPr/>
          <p:nvPr/>
        </p:nvSpPr>
        <p:spPr>
          <a:xfrm>
            <a:off x="3026295" y="4622899"/>
            <a:ext cx="1661079" cy="237430"/>
          </a:xfrm>
          <a:prstGeom prst="rect">
            <a:avLst/>
          </a:prstGeom>
          <a:noFill/>
          <a:ln/>
        </p:spPr>
        <p:txBody>
          <a:bodyPr wrap="none" lIns="0" tIns="0" rIns="0" bIns="0" rtlCol="0" anchor="t"/>
          <a:lstStyle/>
          <a:p>
            <a:pPr marL="0" indent="0" algn="ctr">
              <a:lnSpc>
                <a:spcPct val="92000"/>
              </a:lnSpc>
              <a:buNone/>
            </a:pPr>
            <a:r>
              <a:rPr lang="en-US" sz="1700" b="1" dirty="0">
                <a:solidFill>
                  <a:srgbClr val="16324F"/>
                </a:solidFill>
                <a:latin typeface="Montserrat Bold" pitchFamily="34" charset="0"/>
                <a:ea typeface="Montserrat Bold" pitchFamily="34" charset="-122"/>
                <a:cs typeface="Montserrat Bold" pitchFamily="34" charset="-120"/>
              </a:rPr>
              <a:t>Statistics</a:t>
            </a:r>
            <a:endParaRPr lang="en-US" sz="1700" dirty="0"/>
          </a:p>
        </p:txBody>
      </p:sp>
      <p:sp>
        <p:nvSpPr>
          <p:cNvPr id="15" name="Text 12"/>
          <p:cNvSpPr/>
          <p:nvPr/>
        </p:nvSpPr>
        <p:spPr>
          <a:xfrm>
            <a:off x="3026295" y="4966990"/>
            <a:ext cx="1661079" cy="720030"/>
          </a:xfrm>
          <a:prstGeom prst="rect">
            <a:avLst/>
          </a:prstGeom>
          <a:noFill/>
          <a:ln/>
        </p:spPr>
        <p:txBody>
          <a:bodyPr wrap="square" lIns="0" tIns="0" rIns="0" bIns="0" rtlCol="0" anchor="t">
            <a:normAutofit/>
          </a:bodyPr>
          <a:lstStyle/>
          <a:p>
            <a:pPr marL="0" indent="0" algn="ctr">
              <a:lnSpc>
                <a:spcPct val="112000"/>
              </a:lnSpc>
              <a:buNone/>
            </a:pPr>
            <a:r>
              <a:rPr lang="en-US" sz="1400" dirty="0">
                <a:solidFill>
                  <a:srgbClr val="16324F"/>
                </a:solidFill>
                <a:latin typeface="Inconsolata" pitchFamily="34" charset="0"/>
                <a:ea typeface="Inconsolata" pitchFamily="34" charset="-122"/>
                <a:cs typeface="Inconsolata" pitchFamily="34" charset="-120"/>
              </a:rPr>
              <a:t>Data-driven prediction became more practical.</a:t>
            </a:r>
            <a:endParaRPr lang="en-US" sz="1400" dirty="0"/>
          </a:p>
        </p:txBody>
      </p:sp>
      <p:sp>
        <p:nvSpPr>
          <p:cNvPr id="16" name="Shape 13"/>
          <p:cNvSpPr/>
          <p:nvPr/>
        </p:nvSpPr>
        <p:spPr>
          <a:xfrm>
            <a:off x="6086224" y="3911699"/>
            <a:ext cx="19050" cy="533400"/>
          </a:xfrm>
          <a:prstGeom prst="roundRect">
            <a:avLst>
              <a:gd name="adj" fmla="val 49999"/>
            </a:avLst>
          </a:prstGeom>
          <a:solidFill>
            <a:srgbClr val="CCCCCC"/>
          </a:solidFill>
          <a:ln/>
        </p:spPr>
      </p:sp>
      <p:sp>
        <p:nvSpPr>
          <p:cNvPr id="17" name="Shape 14"/>
          <p:cNvSpPr/>
          <p:nvPr/>
        </p:nvSpPr>
        <p:spPr>
          <a:xfrm>
            <a:off x="5895728" y="3711674"/>
            <a:ext cx="400040" cy="400050"/>
          </a:xfrm>
          <a:prstGeom prst="roundRect">
            <a:avLst>
              <a:gd name="adj" fmla="val 18667"/>
            </a:avLst>
          </a:prstGeom>
          <a:solidFill>
            <a:srgbClr val="E6E6E6"/>
          </a:solidFill>
          <a:ln w="6350">
            <a:solidFill>
              <a:srgbClr val="CCCCCC"/>
            </a:solidFill>
            <a:prstDash val="solid"/>
          </a:ln>
        </p:spPr>
      </p:sp>
      <p:sp>
        <p:nvSpPr>
          <p:cNvPr id="18" name="Text 15"/>
          <p:cNvSpPr/>
          <p:nvPr/>
        </p:nvSpPr>
        <p:spPr>
          <a:xfrm>
            <a:off x="5962402" y="3765054"/>
            <a:ext cx="266693" cy="293291"/>
          </a:xfrm>
          <a:prstGeom prst="rect">
            <a:avLst/>
          </a:prstGeom>
          <a:noFill/>
          <a:ln/>
        </p:spPr>
        <p:txBody>
          <a:bodyPr wrap="none" lIns="0" tIns="0" rIns="0" bIns="0" rtlCol="0" anchor="ctr"/>
          <a:lstStyle/>
          <a:p>
            <a:pPr marL="0" indent="0" algn="ctr">
              <a:lnSpc>
                <a:spcPct val="100000"/>
              </a:lnSpc>
              <a:buNone/>
            </a:pPr>
            <a:r>
              <a:rPr lang="en-US" sz="2100" b="1" dirty="0">
                <a:solidFill>
                  <a:srgbClr val="16324F"/>
                </a:solidFill>
                <a:latin typeface="Montserrat Bold" pitchFamily="34" charset="0"/>
                <a:ea typeface="Montserrat Bold" pitchFamily="34" charset="-122"/>
                <a:cs typeface="Montserrat Bold" pitchFamily="34" charset="-120"/>
              </a:rPr>
              <a:t>3</a:t>
            </a:r>
            <a:endParaRPr lang="en-US" sz="2100" dirty="0"/>
          </a:p>
        </p:txBody>
      </p:sp>
      <p:sp>
        <p:nvSpPr>
          <p:cNvPr id="19" name="Text 16"/>
          <p:cNvSpPr/>
          <p:nvPr/>
        </p:nvSpPr>
        <p:spPr>
          <a:xfrm>
            <a:off x="5265209" y="4622899"/>
            <a:ext cx="1661178" cy="237430"/>
          </a:xfrm>
          <a:prstGeom prst="rect">
            <a:avLst/>
          </a:prstGeom>
          <a:noFill/>
          <a:ln/>
        </p:spPr>
        <p:txBody>
          <a:bodyPr wrap="none" lIns="0" tIns="0" rIns="0" bIns="0" rtlCol="0" anchor="t"/>
          <a:lstStyle/>
          <a:p>
            <a:pPr marL="0" indent="0" algn="ctr">
              <a:lnSpc>
                <a:spcPct val="92000"/>
              </a:lnSpc>
              <a:buNone/>
            </a:pPr>
            <a:r>
              <a:rPr lang="en-US" sz="1700" b="1" dirty="0">
                <a:solidFill>
                  <a:srgbClr val="16324F"/>
                </a:solidFill>
                <a:latin typeface="Montserrat Bold" pitchFamily="34" charset="0"/>
                <a:ea typeface="Montserrat Bold" pitchFamily="34" charset="-122"/>
                <a:cs typeface="Montserrat Bold" pitchFamily="34" charset="-120"/>
              </a:rPr>
              <a:t>Smartphones</a:t>
            </a:r>
            <a:endParaRPr lang="en-US" sz="1700" dirty="0"/>
          </a:p>
        </p:txBody>
      </p:sp>
      <p:sp>
        <p:nvSpPr>
          <p:cNvPr id="20" name="Text 17"/>
          <p:cNvSpPr/>
          <p:nvPr/>
        </p:nvSpPr>
        <p:spPr>
          <a:xfrm>
            <a:off x="5265209" y="4966990"/>
            <a:ext cx="1661178" cy="960041"/>
          </a:xfrm>
          <a:prstGeom prst="rect">
            <a:avLst/>
          </a:prstGeom>
          <a:noFill/>
          <a:ln/>
        </p:spPr>
        <p:txBody>
          <a:bodyPr wrap="square" lIns="0" tIns="0" rIns="0" bIns="0" rtlCol="0" anchor="t">
            <a:normAutofit/>
          </a:bodyPr>
          <a:lstStyle/>
          <a:p>
            <a:pPr marL="0" indent="0" algn="ctr">
              <a:lnSpc>
                <a:spcPct val="112000"/>
              </a:lnSpc>
              <a:buNone/>
            </a:pPr>
            <a:r>
              <a:rPr lang="en-US" sz="1400" dirty="0">
                <a:solidFill>
                  <a:srgbClr val="16324F"/>
                </a:solidFill>
                <a:latin typeface="Inconsolata" pitchFamily="34" charset="0"/>
                <a:ea typeface="Inconsolata" pitchFamily="34" charset="-122"/>
                <a:cs typeface="Inconsolata" pitchFamily="34" charset="-120"/>
              </a:rPr>
              <a:t>Smartphones added cameras, sensors, microphones, and powerful chips.</a:t>
            </a:r>
            <a:endParaRPr lang="en-US" sz="1400" dirty="0"/>
          </a:p>
        </p:txBody>
      </p:sp>
      <p:sp>
        <p:nvSpPr>
          <p:cNvPr id="21" name="Shape 18"/>
          <p:cNvSpPr/>
          <p:nvPr/>
        </p:nvSpPr>
        <p:spPr>
          <a:xfrm>
            <a:off x="8325237" y="3911699"/>
            <a:ext cx="19050" cy="533400"/>
          </a:xfrm>
          <a:prstGeom prst="roundRect">
            <a:avLst>
              <a:gd name="adj" fmla="val 49999"/>
            </a:avLst>
          </a:prstGeom>
          <a:solidFill>
            <a:srgbClr val="CCCCCC"/>
          </a:solidFill>
          <a:ln/>
        </p:spPr>
      </p:sp>
      <p:sp>
        <p:nvSpPr>
          <p:cNvPr id="22" name="Shape 19"/>
          <p:cNvSpPr/>
          <p:nvPr/>
        </p:nvSpPr>
        <p:spPr>
          <a:xfrm>
            <a:off x="8134742" y="3711674"/>
            <a:ext cx="400040" cy="400050"/>
          </a:xfrm>
          <a:prstGeom prst="roundRect">
            <a:avLst>
              <a:gd name="adj" fmla="val 18667"/>
            </a:avLst>
          </a:prstGeom>
          <a:solidFill>
            <a:srgbClr val="E6E6E6"/>
          </a:solidFill>
          <a:ln w="6350">
            <a:solidFill>
              <a:srgbClr val="CCCCCC"/>
            </a:solidFill>
            <a:prstDash val="solid"/>
          </a:ln>
        </p:spPr>
      </p:sp>
      <p:sp>
        <p:nvSpPr>
          <p:cNvPr id="23" name="Text 20"/>
          <p:cNvSpPr/>
          <p:nvPr/>
        </p:nvSpPr>
        <p:spPr>
          <a:xfrm>
            <a:off x="8201415" y="3765054"/>
            <a:ext cx="266693" cy="293291"/>
          </a:xfrm>
          <a:prstGeom prst="rect">
            <a:avLst/>
          </a:prstGeom>
          <a:noFill/>
          <a:ln/>
        </p:spPr>
        <p:txBody>
          <a:bodyPr wrap="none" lIns="0" tIns="0" rIns="0" bIns="0" rtlCol="0" anchor="ctr"/>
          <a:lstStyle/>
          <a:p>
            <a:pPr marL="0" indent="0" algn="ctr">
              <a:lnSpc>
                <a:spcPct val="100000"/>
              </a:lnSpc>
              <a:buNone/>
            </a:pPr>
            <a:r>
              <a:rPr lang="en-US" sz="2100" b="1" dirty="0">
                <a:solidFill>
                  <a:srgbClr val="16324F"/>
                </a:solidFill>
                <a:latin typeface="Montserrat Bold" pitchFamily="34" charset="0"/>
                <a:ea typeface="Montserrat Bold" pitchFamily="34" charset="-122"/>
                <a:cs typeface="Montserrat Bold" pitchFamily="34" charset="-120"/>
              </a:rPr>
              <a:t>4</a:t>
            </a:r>
            <a:endParaRPr lang="en-US" sz="2100" dirty="0"/>
          </a:p>
        </p:txBody>
      </p:sp>
      <p:sp>
        <p:nvSpPr>
          <p:cNvPr id="24" name="Text 21"/>
          <p:cNvSpPr/>
          <p:nvPr/>
        </p:nvSpPr>
        <p:spPr>
          <a:xfrm>
            <a:off x="7504222" y="4622899"/>
            <a:ext cx="1661079" cy="237430"/>
          </a:xfrm>
          <a:prstGeom prst="rect">
            <a:avLst/>
          </a:prstGeom>
          <a:noFill/>
          <a:ln/>
        </p:spPr>
        <p:txBody>
          <a:bodyPr wrap="none" lIns="0" tIns="0" rIns="0" bIns="0" rtlCol="0" anchor="t"/>
          <a:lstStyle/>
          <a:p>
            <a:pPr marL="0" indent="0" algn="ctr">
              <a:lnSpc>
                <a:spcPct val="92000"/>
              </a:lnSpc>
              <a:buNone/>
            </a:pPr>
            <a:r>
              <a:rPr lang="en-US" sz="1700" b="1" dirty="0">
                <a:solidFill>
                  <a:srgbClr val="16324F"/>
                </a:solidFill>
                <a:latin typeface="Montserrat Bold" pitchFamily="34" charset="0"/>
                <a:ea typeface="Montserrat Bold" pitchFamily="34" charset="-122"/>
                <a:cs typeface="Montserrat Bold" pitchFamily="34" charset="-120"/>
              </a:rPr>
              <a:t>Deep learning</a:t>
            </a:r>
            <a:endParaRPr lang="en-US" sz="1700" dirty="0"/>
          </a:p>
        </p:txBody>
      </p:sp>
      <p:sp>
        <p:nvSpPr>
          <p:cNvPr id="25" name="Text 22"/>
          <p:cNvSpPr/>
          <p:nvPr/>
        </p:nvSpPr>
        <p:spPr>
          <a:xfrm>
            <a:off x="7504222" y="4966990"/>
            <a:ext cx="1661079" cy="960041"/>
          </a:xfrm>
          <a:prstGeom prst="rect">
            <a:avLst/>
          </a:prstGeom>
          <a:noFill/>
          <a:ln/>
        </p:spPr>
        <p:txBody>
          <a:bodyPr wrap="square" lIns="0" tIns="0" rIns="0" bIns="0" rtlCol="0" anchor="t">
            <a:normAutofit/>
          </a:bodyPr>
          <a:lstStyle/>
          <a:p>
            <a:pPr marL="0" indent="0" algn="ctr">
              <a:lnSpc>
                <a:spcPct val="112000"/>
              </a:lnSpc>
              <a:buNone/>
            </a:pPr>
            <a:r>
              <a:rPr lang="en-US" sz="1400" dirty="0">
                <a:solidFill>
                  <a:srgbClr val="16324F"/>
                </a:solidFill>
                <a:latin typeface="Inconsolata" pitchFamily="34" charset="0"/>
                <a:ea typeface="Inconsolata" pitchFamily="34" charset="-122"/>
                <a:cs typeface="Inconsolata" pitchFamily="34" charset="-120"/>
              </a:rPr>
              <a:t>Deep learning improved vision, speech, and language features.</a:t>
            </a:r>
            <a:endParaRPr lang="en-US" sz="1400" dirty="0"/>
          </a:p>
        </p:txBody>
      </p:sp>
      <p:sp>
        <p:nvSpPr>
          <p:cNvPr id="26" name="Shape 23"/>
          <p:cNvSpPr/>
          <p:nvPr/>
        </p:nvSpPr>
        <p:spPr>
          <a:xfrm>
            <a:off x="10564151" y="3911699"/>
            <a:ext cx="19050" cy="533400"/>
          </a:xfrm>
          <a:prstGeom prst="roundRect">
            <a:avLst>
              <a:gd name="adj" fmla="val 49999"/>
            </a:avLst>
          </a:prstGeom>
          <a:solidFill>
            <a:srgbClr val="CCCCCC"/>
          </a:solidFill>
          <a:ln/>
        </p:spPr>
      </p:sp>
      <p:sp>
        <p:nvSpPr>
          <p:cNvPr id="27" name="Shape 24"/>
          <p:cNvSpPr/>
          <p:nvPr/>
        </p:nvSpPr>
        <p:spPr>
          <a:xfrm>
            <a:off x="10373656" y="3711674"/>
            <a:ext cx="400040" cy="400050"/>
          </a:xfrm>
          <a:prstGeom prst="roundRect">
            <a:avLst>
              <a:gd name="adj" fmla="val 18667"/>
            </a:avLst>
          </a:prstGeom>
          <a:solidFill>
            <a:srgbClr val="E6E6E6"/>
          </a:solidFill>
          <a:ln w="6350">
            <a:solidFill>
              <a:srgbClr val="CCCCCC"/>
            </a:solidFill>
            <a:prstDash val="solid"/>
          </a:ln>
        </p:spPr>
      </p:sp>
      <p:sp>
        <p:nvSpPr>
          <p:cNvPr id="28" name="Text 25"/>
          <p:cNvSpPr/>
          <p:nvPr/>
        </p:nvSpPr>
        <p:spPr>
          <a:xfrm>
            <a:off x="10440329" y="3765054"/>
            <a:ext cx="266693" cy="293291"/>
          </a:xfrm>
          <a:prstGeom prst="rect">
            <a:avLst/>
          </a:prstGeom>
          <a:noFill/>
          <a:ln/>
        </p:spPr>
        <p:txBody>
          <a:bodyPr wrap="none" lIns="0" tIns="0" rIns="0" bIns="0" rtlCol="0" anchor="ctr"/>
          <a:lstStyle/>
          <a:p>
            <a:pPr marL="0" indent="0" algn="ctr">
              <a:lnSpc>
                <a:spcPct val="100000"/>
              </a:lnSpc>
              <a:buNone/>
            </a:pPr>
            <a:r>
              <a:rPr lang="en-US" sz="2100" b="1" dirty="0">
                <a:solidFill>
                  <a:srgbClr val="16324F"/>
                </a:solidFill>
                <a:latin typeface="Montserrat Bold" pitchFamily="34" charset="0"/>
                <a:ea typeface="Montserrat Bold" pitchFamily="34" charset="-122"/>
                <a:cs typeface="Montserrat Bold" pitchFamily="34" charset="-120"/>
              </a:rPr>
              <a:t>5</a:t>
            </a:r>
            <a:endParaRPr lang="en-US" sz="2100" dirty="0"/>
          </a:p>
        </p:txBody>
      </p:sp>
      <p:sp>
        <p:nvSpPr>
          <p:cNvPr id="29" name="Text 26"/>
          <p:cNvSpPr/>
          <p:nvPr/>
        </p:nvSpPr>
        <p:spPr>
          <a:xfrm>
            <a:off x="9743137" y="4622899"/>
            <a:ext cx="1661178" cy="237430"/>
          </a:xfrm>
          <a:prstGeom prst="rect">
            <a:avLst/>
          </a:prstGeom>
          <a:noFill/>
          <a:ln/>
        </p:spPr>
        <p:txBody>
          <a:bodyPr wrap="none" lIns="0" tIns="0" rIns="0" bIns="0" rtlCol="0" anchor="t"/>
          <a:lstStyle/>
          <a:p>
            <a:pPr marL="0" indent="0" algn="ctr">
              <a:lnSpc>
                <a:spcPct val="92000"/>
              </a:lnSpc>
              <a:buNone/>
            </a:pPr>
            <a:r>
              <a:rPr lang="en-US" sz="1700" b="1" dirty="0">
                <a:solidFill>
                  <a:srgbClr val="16324F"/>
                </a:solidFill>
                <a:latin typeface="Montserrat Bold" pitchFamily="34" charset="0"/>
                <a:ea typeface="Montserrat Bold" pitchFamily="34" charset="-122"/>
                <a:cs typeface="Montserrat Bold" pitchFamily="34" charset="-120"/>
              </a:rPr>
              <a:t>Today</a:t>
            </a:r>
            <a:endParaRPr lang="en-US" sz="1700" dirty="0"/>
          </a:p>
        </p:txBody>
      </p:sp>
      <p:sp>
        <p:nvSpPr>
          <p:cNvPr id="30" name="Text 27"/>
          <p:cNvSpPr/>
          <p:nvPr/>
        </p:nvSpPr>
        <p:spPr>
          <a:xfrm>
            <a:off x="9743137" y="4966990"/>
            <a:ext cx="1661178" cy="1200051"/>
          </a:xfrm>
          <a:prstGeom prst="rect">
            <a:avLst/>
          </a:prstGeom>
          <a:noFill/>
          <a:ln/>
        </p:spPr>
        <p:txBody>
          <a:bodyPr wrap="square" lIns="0" tIns="0" rIns="0" bIns="0" rtlCol="0" anchor="t">
            <a:normAutofit/>
          </a:bodyPr>
          <a:lstStyle/>
          <a:p>
            <a:pPr marL="0" indent="0" algn="ctr">
              <a:lnSpc>
                <a:spcPct val="112000"/>
              </a:lnSpc>
              <a:buNone/>
            </a:pPr>
            <a:r>
              <a:rPr lang="en-US" sz="1400" dirty="0">
                <a:solidFill>
                  <a:srgbClr val="16324F"/>
                </a:solidFill>
                <a:latin typeface="Inconsolata" pitchFamily="34" charset="0"/>
                <a:ea typeface="Inconsolata" pitchFamily="34" charset="-122"/>
                <a:cs typeface="Inconsolata" pitchFamily="34" charset="-120"/>
              </a:rPr>
              <a:t>Mobile apps combine on-device models, cloud services, and generative AI.</a:t>
            </a:r>
            <a:endParaRPr lang="en-US" sz="1400" dirty="0"/>
          </a:p>
        </p:txBody>
      </p:sp>
      <p:sp>
        <p:nvSpPr>
          <p:cNvPr id="31" name="Shape 28"/>
          <p:cNvSpPr/>
          <p:nvPr/>
        </p:nvSpPr>
        <p:spPr>
          <a:xfrm>
            <a:off x="0" y="6248400"/>
            <a:ext cx="12191695" cy="609600"/>
          </a:xfrm>
          <a:prstGeom prst="rect">
            <a:avLst/>
          </a:prstGeom>
          <a:solidFill>
            <a:srgbClr val="F7FBFF"/>
          </a:solidFill>
          <a:ln/>
        </p:spPr>
      </p:sp>
      <p:sp>
        <p:nvSpPr>
          <p:cNvPr id="32" name="Shape 29"/>
          <p:cNvSpPr/>
          <p:nvPr/>
        </p:nvSpPr>
        <p:spPr>
          <a:xfrm>
            <a:off x="0" y="6248400"/>
            <a:ext cx="12191695" cy="9525"/>
          </a:xfrm>
          <a:prstGeom prst="rect">
            <a:avLst/>
          </a:prstGeom>
          <a:solidFill>
            <a:srgbClr val="000000">
              <a:alpha val="20000"/>
            </a:srgbClr>
          </a:solidFill>
          <a:ln/>
        </p:spPr>
      </p:sp>
      <p:sp>
        <p:nvSpPr>
          <p:cNvPr id="33" name="Text 30"/>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34" name="Text 31"/>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35" name="Text 32"/>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04 / 10</a:t>
            </a:r>
            <a:endParaRPr lang="en-US" sz="1000" dirty="0"/>
          </a:p>
        </p:txBody>
      </p:sp>
      <p:sp>
        <p:nvSpPr>
          <p:cNvPr id="36" name="Text 33"/>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2084603"/>
            <a:ext cx="10972526" cy="670520"/>
          </a:xfrm>
          <a:prstGeom prst="rect">
            <a:avLst/>
          </a:prstGeom>
          <a:noFill/>
          <a:ln/>
        </p:spPr>
        <p:txBody>
          <a:bodyPr wrap="none" lIns="0" tIns="0" rIns="0" bIns="0" rtlCol="0" anchor="t"/>
          <a:lstStyle/>
          <a:p>
            <a:pPr marL="0" indent="0" algn="l">
              <a:lnSpc>
                <a:spcPct val="92000"/>
              </a:lnSpc>
              <a:buNone/>
            </a:pPr>
            <a:r>
              <a:rPr lang="en-US" sz="4800" b="1" dirty="0">
                <a:solidFill>
                  <a:srgbClr val="071B33"/>
                </a:solidFill>
                <a:latin typeface="Montserrat Bold" pitchFamily="34" charset="0"/>
                <a:ea typeface="Montserrat Bold" pitchFamily="34" charset="-122"/>
                <a:cs typeface="Montserrat Bold" pitchFamily="34" charset="-120"/>
              </a:rPr>
              <a:t>WE USE MOBILE AI EVERY DAY</a:t>
            </a:r>
            <a:endParaRPr lang="en-US" sz="4800" dirty="0"/>
          </a:p>
        </p:txBody>
      </p:sp>
      <p:sp>
        <p:nvSpPr>
          <p:cNvPr id="3" name="Text 1"/>
          <p:cNvSpPr/>
          <p:nvPr/>
        </p:nvSpPr>
        <p:spPr>
          <a:xfrm>
            <a:off x="609585" y="2857798"/>
            <a:ext cx="10972526" cy="1339751"/>
          </a:xfrm>
          <a:prstGeom prst="rect">
            <a:avLst/>
          </a:prstGeom>
          <a:noFill/>
          <a:ln/>
        </p:spPr>
        <p:txBody>
          <a:bodyPr wrap="square" lIns="0" tIns="0" rIns="0" bIns="0" rtlCol="0" anchor="t">
            <a:normAutofit/>
          </a:bodyPr>
          <a:lstStyle/>
          <a:p>
            <a:pPr marL="284480" indent="-284480" algn="l">
              <a:lnSpc>
                <a:spcPct val="112000"/>
              </a:lnSpc>
              <a:buSzPct val="100000"/>
              <a:buChar char="•"/>
            </a:pPr>
            <a:r>
              <a:rPr lang="en-US" sz="1400" dirty="0">
                <a:solidFill>
                  <a:srgbClr val="16324F"/>
                </a:solidFill>
                <a:latin typeface="Inconsolata" pitchFamily="34" charset="0"/>
                <a:ea typeface="Inconsolata" pitchFamily="34" charset="-122"/>
                <a:cs typeface="Inconsolata" pitchFamily="34" charset="-120"/>
              </a:rPr>
              <a:t>Face detection helps cameras focus and organize photos.</a:t>
            </a:r>
            <a:endParaRPr lang="en-US" sz="1400" dirty="0"/>
          </a:p>
          <a:p>
            <a:pPr marL="284480" indent="-284480" algn="l">
              <a:lnSpc>
                <a:spcPct val="112000"/>
              </a:lnSpc>
              <a:buSzPct val="100000"/>
              <a:buChar char="•"/>
            </a:pPr>
            <a:r>
              <a:rPr lang="en-US" sz="1400" dirty="0">
                <a:solidFill>
                  <a:srgbClr val="16324F"/>
                </a:solidFill>
                <a:latin typeface="Inconsolata" pitchFamily="34" charset="0"/>
                <a:ea typeface="Inconsolata" pitchFamily="34" charset="-122"/>
                <a:cs typeface="Inconsolata" pitchFamily="34" charset="-120"/>
              </a:rPr>
              <a:t>Voice assistants convert speech into commands or text.</a:t>
            </a:r>
            <a:endParaRPr lang="en-US" sz="1400" dirty="0"/>
          </a:p>
          <a:p>
            <a:pPr marL="284480" indent="-284480" algn="l">
              <a:lnSpc>
                <a:spcPct val="112000"/>
              </a:lnSpc>
              <a:buSzPct val="100000"/>
              <a:buChar char="•"/>
            </a:pPr>
            <a:r>
              <a:rPr lang="en-US" sz="1400" dirty="0">
                <a:solidFill>
                  <a:srgbClr val="16324F"/>
                </a:solidFill>
                <a:latin typeface="Inconsolata" pitchFamily="34" charset="0"/>
                <a:ea typeface="Inconsolata" pitchFamily="34" charset="-122"/>
                <a:cs typeface="Inconsolata" pitchFamily="34" charset="-120"/>
              </a:rPr>
              <a:t>Maps estimate routes and adapt to changing conditions.</a:t>
            </a:r>
            <a:endParaRPr lang="en-US" sz="1400" dirty="0"/>
          </a:p>
          <a:p>
            <a:pPr marL="284480" indent="-284480" algn="l">
              <a:lnSpc>
                <a:spcPct val="112000"/>
              </a:lnSpc>
              <a:buSzPct val="100000"/>
              <a:buChar char="•"/>
            </a:pPr>
            <a:r>
              <a:rPr lang="en-US" sz="1400" dirty="0">
                <a:solidFill>
                  <a:srgbClr val="16324F"/>
                </a:solidFill>
                <a:latin typeface="Inconsolata" pitchFamily="34" charset="0"/>
                <a:ea typeface="Inconsolata" pitchFamily="34" charset="-122"/>
                <a:cs typeface="Inconsolata" pitchFamily="34" charset="-120"/>
              </a:rPr>
              <a:t>Translation and image recognition help users understand unfamiliar content.</a:t>
            </a:r>
            <a:endParaRPr lang="en-US" sz="1400" dirty="0"/>
          </a:p>
          <a:p>
            <a:pPr marL="284480" indent="-284480" algn="l">
              <a:lnSpc>
                <a:spcPct val="112000"/>
              </a:lnSpc>
              <a:buSzPct val="100000"/>
              <a:buChar char="•"/>
            </a:pPr>
            <a:r>
              <a:rPr lang="en-US" sz="1400" dirty="0">
                <a:solidFill>
                  <a:srgbClr val="16324F"/>
                </a:solidFill>
                <a:latin typeface="Inconsolata" pitchFamily="34" charset="0"/>
                <a:ea typeface="Inconsolata" pitchFamily="34" charset="-122"/>
                <a:cs typeface="Inconsolata" pitchFamily="34" charset="-120"/>
              </a:rPr>
              <a:t>Recommendation systems personalize music, shopping, video, and news feeds.</a:t>
            </a:r>
            <a:endParaRPr lang="en-US" sz="1400" dirty="0"/>
          </a:p>
        </p:txBody>
      </p:sp>
      <p:sp>
        <p:nvSpPr>
          <p:cNvPr id="4" name="Shape 2"/>
          <p:cNvSpPr/>
          <p:nvPr/>
        </p:nvSpPr>
        <p:spPr>
          <a:xfrm>
            <a:off x="0" y="6248400"/>
            <a:ext cx="12191695" cy="609600"/>
          </a:xfrm>
          <a:prstGeom prst="rect">
            <a:avLst/>
          </a:prstGeom>
          <a:solidFill>
            <a:srgbClr val="F7FBFF"/>
          </a:solidFill>
          <a:ln/>
        </p:spPr>
      </p:sp>
      <p:sp>
        <p:nvSpPr>
          <p:cNvPr id="5" name="Shape 3"/>
          <p:cNvSpPr/>
          <p:nvPr/>
        </p:nvSpPr>
        <p:spPr>
          <a:xfrm>
            <a:off x="0" y="6248400"/>
            <a:ext cx="12191695" cy="9525"/>
          </a:xfrm>
          <a:prstGeom prst="rect">
            <a:avLst/>
          </a:prstGeom>
          <a:solidFill>
            <a:srgbClr val="000000">
              <a:alpha val="20000"/>
            </a:srgbClr>
          </a:solidFill>
          <a:ln/>
        </p:spPr>
      </p:sp>
      <p:sp>
        <p:nvSpPr>
          <p:cNvPr id="6" name="Text 4"/>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7" name="Text 5"/>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8" name="Text 6"/>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05 / 10</a:t>
            </a:r>
            <a:endParaRPr lang="en-US" sz="1000" dirty="0"/>
          </a:p>
        </p:txBody>
      </p:sp>
      <p:sp>
        <p:nvSpPr>
          <p:cNvPr id="9" name="Text 7"/>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1749343"/>
            <a:ext cx="10972526" cy="1341041"/>
          </a:xfrm>
          <a:prstGeom prst="rect">
            <a:avLst/>
          </a:prstGeom>
          <a:noFill/>
          <a:ln/>
        </p:spPr>
        <p:txBody>
          <a:bodyPr wrap="square" lIns="0" tIns="0" rIns="0" bIns="0" rtlCol="0" anchor="t">
            <a:normAutofit/>
          </a:bodyPr>
          <a:lstStyle/>
          <a:p>
            <a:pPr marL="0" indent="0" algn="l">
              <a:lnSpc>
                <a:spcPct val="92000"/>
              </a:lnSpc>
              <a:buNone/>
            </a:pPr>
            <a:r>
              <a:rPr lang="en-US" sz="4800" b="1" dirty="0">
                <a:solidFill>
                  <a:srgbClr val="071B33"/>
                </a:solidFill>
                <a:latin typeface="Montserrat Bold" pitchFamily="34" charset="0"/>
                <a:ea typeface="Montserrat Bold" pitchFamily="34" charset="-122"/>
                <a:cs typeface="Montserrat Bold" pitchFamily="34" charset="-120"/>
              </a:rPr>
              <a:t>A MODEL LEARNS BEFORE THE APP MAKES A PREDICTION</a:t>
            </a:r>
            <a:endParaRPr lang="en-US" sz="4800" dirty="0"/>
          </a:p>
        </p:txBody>
      </p:sp>
      <p:sp>
        <p:nvSpPr>
          <p:cNvPr id="3" name="Text 1"/>
          <p:cNvSpPr/>
          <p:nvPr/>
        </p:nvSpPr>
        <p:spPr>
          <a:xfrm>
            <a:off x="609585" y="3193058"/>
            <a:ext cx="10972526" cy="1339751"/>
          </a:xfrm>
          <a:prstGeom prst="rect">
            <a:avLst/>
          </a:prstGeom>
          <a:noFill/>
          <a:ln/>
        </p:spPr>
        <p:txBody>
          <a:bodyPr wrap="square" lIns="0" tIns="0" rIns="0" bIns="0" rtlCol="0" anchor="t">
            <a:normAutofit/>
          </a:bodyPr>
          <a:lstStyle/>
          <a:p>
            <a:pPr marL="284480" indent="-284480" algn="l">
              <a:lnSpc>
                <a:spcPct val="112000"/>
              </a:lnSpc>
              <a:buSzPct val="100000"/>
              <a:buFont typeface="+mj-lt"/>
              <a:buAutoNum type="arabicPeriod"/>
            </a:pPr>
            <a:r>
              <a:rPr lang="en-US" sz="1400" b="1" dirty="0">
                <a:solidFill>
                  <a:srgbClr val="16324F"/>
                </a:solidFill>
                <a:latin typeface="Inconsolata Bold" pitchFamily="34" charset="0"/>
                <a:ea typeface="Inconsolata Bold" pitchFamily="34" charset="-122"/>
                <a:cs typeface="Inconsolata Bold" pitchFamily="34" charset="-120"/>
              </a:rPr>
              <a:t>Collect:</a:t>
            </a:r>
            <a:r>
              <a:rPr lang="en-US" sz="1400" dirty="0">
                <a:solidFill>
                  <a:srgbClr val="16324F"/>
                </a:solidFill>
                <a:latin typeface="Inconsolata" pitchFamily="34" charset="0"/>
                <a:ea typeface="Inconsolata" pitchFamily="34" charset="-122"/>
                <a:cs typeface="Inconsolata" pitchFamily="34" charset="-120"/>
              </a:rPr>
              <a:t> gather representative examples and define the target task.</a:t>
            </a:r>
            <a:endParaRPr lang="en-US" sz="1400" dirty="0"/>
          </a:p>
          <a:p>
            <a:pPr marL="284480" indent="-284480" algn="l">
              <a:lnSpc>
                <a:spcPct val="112000"/>
              </a:lnSpc>
              <a:buSzPct val="100000"/>
              <a:buFont typeface="+mj-lt"/>
              <a:buAutoNum type="arabicPeriod" startAt="2"/>
            </a:pPr>
            <a:r>
              <a:rPr lang="en-US" sz="1400" b="1" dirty="0">
                <a:solidFill>
                  <a:srgbClr val="16324F"/>
                </a:solidFill>
                <a:latin typeface="Inconsolata Bold" pitchFamily="34" charset="0"/>
                <a:ea typeface="Inconsolata Bold" pitchFamily="34" charset="-122"/>
                <a:cs typeface="Inconsolata Bold" pitchFamily="34" charset="-120"/>
              </a:rPr>
              <a:t>Train:</a:t>
            </a:r>
            <a:r>
              <a:rPr lang="en-US" sz="1400" dirty="0">
                <a:solidFill>
                  <a:srgbClr val="16324F"/>
                </a:solidFill>
                <a:latin typeface="Inconsolata" pitchFamily="34" charset="0"/>
                <a:ea typeface="Inconsolata" pitchFamily="34" charset="-122"/>
                <a:cs typeface="Inconsolata" pitchFamily="34" charset="-120"/>
              </a:rPr>
              <a:t> adjust model parameters using training data.</a:t>
            </a:r>
            <a:endParaRPr lang="en-US" sz="1400" dirty="0"/>
          </a:p>
          <a:p>
            <a:pPr marL="284480" indent="-284480" algn="l">
              <a:lnSpc>
                <a:spcPct val="112000"/>
              </a:lnSpc>
              <a:buSzPct val="100000"/>
              <a:buFont typeface="+mj-lt"/>
              <a:buAutoNum type="arabicPeriod" startAt="3"/>
            </a:pPr>
            <a:r>
              <a:rPr lang="en-US" sz="1400" b="1" dirty="0">
                <a:solidFill>
                  <a:srgbClr val="16324F"/>
                </a:solidFill>
                <a:latin typeface="Inconsolata Bold" pitchFamily="34" charset="0"/>
                <a:ea typeface="Inconsolata Bold" pitchFamily="34" charset="-122"/>
                <a:cs typeface="Inconsolata Bold" pitchFamily="34" charset="-120"/>
              </a:rPr>
              <a:t>Test:</a:t>
            </a:r>
            <a:r>
              <a:rPr lang="en-US" sz="1400" dirty="0">
                <a:solidFill>
                  <a:srgbClr val="16324F"/>
                </a:solidFill>
                <a:latin typeface="Inconsolata" pitchFamily="34" charset="0"/>
                <a:ea typeface="Inconsolata" pitchFamily="34" charset="-122"/>
                <a:cs typeface="Inconsolata" pitchFamily="34" charset="-120"/>
              </a:rPr>
              <a:t> check performance on data the model did not see during training.</a:t>
            </a:r>
            <a:endParaRPr lang="en-US" sz="1400" dirty="0"/>
          </a:p>
          <a:p>
            <a:pPr marL="284480" indent="-284480" algn="l">
              <a:lnSpc>
                <a:spcPct val="112000"/>
              </a:lnSpc>
              <a:buSzPct val="100000"/>
              <a:buFont typeface="+mj-lt"/>
              <a:buAutoNum type="arabicPeriod" startAt="4"/>
            </a:pPr>
            <a:r>
              <a:rPr lang="en-US" sz="1400" b="1" dirty="0">
                <a:solidFill>
                  <a:srgbClr val="16324F"/>
                </a:solidFill>
                <a:latin typeface="Inconsolata Bold" pitchFamily="34" charset="0"/>
                <a:ea typeface="Inconsolata Bold" pitchFamily="34" charset="-122"/>
                <a:cs typeface="Inconsolata Bold" pitchFamily="34" charset="-120"/>
              </a:rPr>
              <a:t>Integrate:</a:t>
            </a:r>
            <a:r>
              <a:rPr lang="en-US" sz="1400" dirty="0">
                <a:solidFill>
                  <a:srgbClr val="16324F"/>
                </a:solidFill>
                <a:latin typeface="Inconsolata" pitchFamily="34" charset="0"/>
                <a:ea typeface="Inconsolata" pitchFamily="34" charset="-122"/>
                <a:cs typeface="Inconsolata" pitchFamily="34" charset="-120"/>
              </a:rPr>
              <a:t> package the model and connect it to the mobile app.</a:t>
            </a:r>
            <a:endParaRPr lang="en-US" sz="1400" dirty="0"/>
          </a:p>
          <a:p>
            <a:pPr marL="284480" indent="-284480" algn="l">
              <a:lnSpc>
                <a:spcPct val="112000"/>
              </a:lnSpc>
              <a:buSzPct val="100000"/>
              <a:buFont typeface="+mj-lt"/>
              <a:buAutoNum type="arabicPeriod" startAt="5"/>
            </a:pPr>
            <a:r>
              <a:rPr lang="en-US" sz="1400" b="1" dirty="0">
                <a:solidFill>
                  <a:srgbClr val="16324F"/>
                </a:solidFill>
                <a:latin typeface="Inconsolata Bold" pitchFamily="34" charset="0"/>
                <a:ea typeface="Inconsolata Bold" pitchFamily="34" charset="-122"/>
                <a:cs typeface="Inconsolata Bold" pitchFamily="34" charset="-120"/>
              </a:rPr>
              <a:t>Predict:</a:t>
            </a:r>
            <a:r>
              <a:rPr lang="en-US" sz="1400" dirty="0">
                <a:solidFill>
                  <a:srgbClr val="16324F"/>
                </a:solidFill>
                <a:latin typeface="Inconsolata" pitchFamily="34" charset="0"/>
                <a:ea typeface="Inconsolata" pitchFamily="34" charset="-122"/>
                <a:cs typeface="Inconsolata" pitchFamily="34" charset="-120"/>
              </a:rPr>
              <a:t> process new input and return a result to the user.</a:t>
            </a:r>
            <a:endParaRPr lang="en-US" sz="1400" dirty="0"/>
          </a:p>
        </p:txBody>
      </p:sp>
      <p:sp>
        <p:nvSpPr>
          <p:cNvPr id="4" name="Shape 2"/>
          <p:cNvSpPr/>
          <p:nvPr/>
        </p:nvSpPr>
        <p:spPr>
          <a:xfrm>
            <a:off x="0" y="6248400"/>
            <a:ext cx="12191695" cy="609600"/>
          </a:xfrm>
          <a:prstGeom prst="rect">
            <a:avLst/>
          </a:prstGeom>
          <a:solidFill>
            <a:srgbClr val="F7FBFF"/>
          </a:solidFill>
          <a:ln/>
        </p:spPr>
      </p:sp>
      <p:sp>
        <p:nvSpPr>
          <p:cNvPr id="5" name="Shape 3"/>
          <p:cNvSpPr/>
          <p:nvPr/>
        </p:nvSpPr>
        <p:spPr>
          <a:xfrm>
            <a:off x="0" y="6248400"/>
            <a:ext cx="12191695" cy="9525"/>
          </a:xfrm>
          <a:prstGeom prst="rect">
            <a:avLst/>
          </a:prstGeom>
          <a:solidFill>
            <a:srgbClr val="000000">
              <a:alpha val="20000"/>
            </a:srgbClr>
          </a:solidFill>
          <a:ln/>
        </p:spPr>
      </p:sp>
      <p:sp>
        <p:nvSpPr>
          <p:cNvPr id="6" name="Text 4"/>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7" name="Text 5"/>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8" name="Text 6"/>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06 / 10</a:t>
            </a:r>
            <a:endParaRPr lang="en-US" sz="1000" dirty="0"/>
          </a:p>
        </p:txBody>
      </p:sp>
      <p:sp>
        <p:nvSpPr>
          <p:cNvPr id="9" name="Text 7"/>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43450"/>
            <a:ext cx="10972526" cy="1341041"/>
          </a:xfrm>
          <a:prstGeom prst="rect">
            <a:avLst/>
          </a:prstGeom>
          <a:noFill/>
          <a:ln/>
        </p:spPr>
        <p:txBody>
          <a:bodyPr wrap="square" lIns="0" tIns="0" rIns="0" bIns="0" rtlCol="0" anchor="t">
            <a:normAutofit/>
          </a:bodyPr>
          <a:lstStyle/>
          <a:p>
            <a:pPr marL="0" indent="0" algn="l">
              <a:lnSpc>
                <a:spcPct val="92000"/>
              </a:lnSpc>
              <a:buNone/>
            </a:pPr>
            <a:r>
              <a:rPr lang="en-US" sz="4800" b="1" dirty="0">
                <a:solidFill>
                  <a:srgbClr val="071B33"/>
                </a:solidFill>
                <a:latin typeface="Montserrat Bold" pitchFamily="34" charset="0"/>
                <a:ea typeface="Montserrat Bold" pitchFamily="34" charset="-122"/>
                <a:cs typeface="Montserrat Bold" pitchFamily="34" charset="-120"/>
              </a:rPr>
              <a:t>THE MOBILE AI WORKFLOW HAS TWO MAIN ROUTES</a:t>
            </a:r>
            <a:endParaRPr lang="en-US" sz="4800" dirty="0"/>
          </a:p>
        </p:txBody>
      </p:sp>
      <p:sp>
        <p:nvSpPr>
          <p:cNvPr id="3" name="Text 1"/>
          <p:cNvSpPr/>
          <p:nvPr/>
        </p:nvSpPr>
        <p:spPr>
          <a:xfrm>
            <a:off x="609585" y="2087166"/>
            <a:ext cx="11582110" cy="240010"/>
          </a:xfrm>
          <a:prstGeom prst="rect">
            <a:avLst/>
          </a:prstGeom>
          <a:noFill/>
          <a:ln/>
        </p:spPr>
        <p:txBody>
          <a:bodyPr wrap="none" lIns="0" tIns="0" rIns="0" bIns="0" rtlCol="0" anchor="t"/>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User input → mobile application → AI/ML model → result</a:t>
            </a:r>
            <a:endParaRPr lang="en-US" sz="1400" dirty="0"/>
          </a:p>
        </p:txBody>
      </p:sp>
      <p:pic>
        <p:nvPicPr>
          <p:cNvPr id="4" name="Image 0" descr="preencoded.png"/>
          <p:cNvPicPr>
            <a:picLocks noChangeAspect="1"/>
          </p:cNvPicPr>
          <p:nvPr/>
        </p:nvPicPr>
        <p:blipFill>
          <a:blip r:embed="rId3"/>
          <a:stretch>
            <a:fillRect/>
          </a:stretch>
        </p:blipFill>
        <p:spPr>
          <a:xfrm>
            <a:off x="1337237" y="2451001"/>
            <a:ext cx="5300927" cy="2285901"/>
          </a:xfrm>
          <a:prstGeom prst="rect">
            <a:avLst/>
          </a:prstGeom>
        </p:spPr>
      </p:pic>
      <p:sp>
        <p:nvSpPr>
          <p:cNvPr id="5" name="Text 2"/>
          <p:cNvSpPr/>
          <p:nvPr/>
        </p:nvSpPr>
        <p:spPr>
          <a:xfrm>
            <a:off x="1695284" y="2729464"/>
            <a:ext cx="2915091" cy="132136"/>
          </a:xfrm>
          <a:prstGeom prst="rect">
            <a:avLst/>
          </a:prstGeom>
          <a:noFill/>
          <a:ln/>
        </p:spPr>
        <p:txBody>
          <a:bodyPr wrap="none" lIns="0" tIns="0" rIns="0" bIns="0" rtlCol="0" anchor="t"/>
          <a:lstStyle/>
          <a:p>
            <a:pPr marL="0" indent="0" algn="l">
              <a:lnSpc>
                <a:spcPct val="92000"/>
              </a:lnSpc>
              <a:buNone/>
            </a:pPr>
            <a:r>
              <a:rPr lang="en-US" sz="950" b="1" dirty="0">
                <a:solidFill>
                  <a:srgbClr val="16324F"/>
                </a:solidFill>
                <a:latin typeface="Montserrat Bold" pitchFamily="34" charset="0"/>
                <a:ea typeface="Montserrat Bold" pitchFamily="34" charset="-122"/>
                <a:cs typeface="Montserrat Bold" pitchFamily="34" charset="-120"/>
              </a:rPr>
              <a:t>User Input</a:t>
            </a:r>
            <a:endParaRPr lang="en-US" sz="950" dirty="0"/>
          </a:p>
        </p:txBody>
      </p:sp>
      <p:sp>
        <p:nvSpPr>
          <p:cNvPr id="6" name="Text 3"/>
          <p:cNvSpPr/>
          <p:nvPr/>
        </p:nvSpPr>
        <p:spPr>
          <a:xfrm>
            <a:off x="1695284" y="3259554"/>
            <a:ext cx="2915091" cy="132136"/>
          </a:xfrm>
          <a:prstGeom prst="rect">
            <a:avLst/>
          </a:prstGeom>
          <a:noFill/>
          <a:ln/>
        </p:spPr>
        <p:txBody>
          <a:bodyPr wrap="none" lIns="0" tIns="0" rIns="0" bIns="0" rtlCol="0" anchor="t"/>
          <a:lstStyle/>
          <a:p>
            <a:pPr marL="0" indent="0" algn="l">
              <a:lnSpc>
                <a:spcPct val="92000"/>
              </a:lnSpc>
              <a:buNone/>
            </a:pPr>
            <a:r>
              <a:rPr lang="en-US" sz="950" b="1" dirty="0">
                <a:solidFill>
                  <a:srgbClr val="16324F"/>
                </a:solidFill>
                <a:latin typeface="Montserrat Bold" pitchFamily="34" charset="0"/>
                <a:ea typeface="Montserrat Bold" pitchFamily="34" charset="-122"/>
                <a:cs typeface="Montserrat Bold" pitchFamily="34" charset="-120"/>
              </a:rPr>
              <a:t>Mobile App</a:t>
            </a:r>
            <a:endParaRPr lang="en-US" sz="950" dirty="0"/>
          </a:p>
        </p:txBody>
      </p:sp>
      <p:sp>
        <p:nvSpPr>
          <p:cNvPr id="7" name="Text 4"/>
          <p:cNvSpPr/>
          <p:nvPr/>
        </p:nvSpPr>
        <p:spPr>
          <a:xfrm>
            <a:off x="1695284" y="3784343"/>
            <a:ext cx="2915091" cy="132136"/>
          </a:xfrm>
          <a:prstGeom prst="rect">
            <a:avLst/>
          </a:prstGeom>
          <a:noFill/>
          <a:ln/>
        </p:spPr>
        <p:txBody>
          <a:bodyPr wrap="none" lIns="0" tIns="0" rIns="0" bIns="0" rtlCol="0" anchor="t"/>
          <a:lstStyle/>
          <a:p>
            <a:pPr marL="0" indent="0" algn="l">
              <a:lnSpc>
                <a:spcPct val="92000"/>
              </a:lnSpc>
              <a:buNone/>
            </a:pPr>
            <a:r>
              <a:rPr lang="en-US" sz="950" b="1" dirty="0">
                <a:solidFill>
                  <a:srgbClr val="16324F"/>
                </a:solidFill>
                <a:latin typeface="Montserrat Bold" pitchFamily="34" charset="0"/>
                <a:ea typeface="Montserrat Bold" pitchFamily="34" charset="-122"/>
                <a:cs typeface="Montserrat Bold" pitchFamily="34" charset="-120"/>
              </a:rPr>
              <a:t>On-device Model</a:t>
            </a:r>
            <a:endParaRPr lang="en-US" sz="950" dirty="0"/>
          </a:p>
        </p:txBody>
      </p:sp>
      <p:sp>
        <p:nvSpPr>
          <p:cNvPr id="8" name="Text 5"/>
          <p:cNvSpPr/>
          <p:nvPr/>
        </p:nvSpPr>
        <p:spPr>
          <a:xfrm>
            <a:off x="1695284" y="4309132"/>
            <a:ext cx="2915091" cy="132136"/>
          </a:xfrm>
          <a:prstGeom prst="rect">
            <a:avLst/>
          </a:prstGeom>
          <a:noFill/>
          <a:ln/>
        </p:spPr>
        <p:txBody>
          <a:bodyPr wrap="none" lIns="0" tIns="0" rIns="0" bIns="0" rtlCol="0" anchor="t"/>
          <a:lstStyle/>
          <a:p>
            <a:pPr marL="0" indent="0" algn="l">
              <a:lnSpc>
                <a:spcPct val="92000"/>
              </a:lnSpc>
              <a:buNone/>
            </a:pPr>
            <a:r>
              <a:rPr lang="en-US" sz="950" b="1" dirty="0">
                <a:solidFill>
                  <a:srgbClr val="16324F"/>
                </a:solidFill>
                <a:latin typeface="Montserrat Bold" pitchFamily="34" charset="0"/>
                <a:ea typeface="Montserrat Bold" pitchFamily="34" charset="-122"/>
                <a:cs typeface="Montserrat Bold" pitchFamily="34" charset="-120"/>
              </a:rPr>
              <a:t>Cloud Model</a:t>
            </a:r>
            <a:endParaRPr lang="en-US" sz="950" dirty="0"/>
          </a:p>
        </p:txBody>
      </p:sp>
      <p:sp>
        <p:nvSpPr>
          <p:cNvPr id="9" name="Shape 6"/>
          <p:cNvSpPr/>
          <p:nvPr/>
        </p:nvSpPr>
        <p:spPr>
          <a:xfrm>
            <a:off x="7670509" y="2451001"/>
            <a:ext cx="3911601" cy="1555055"/>
          </a:xfrm>
          <a:prstGeom prst="rect">
            <a:avLst/>
          </a:prstGeom>
          <a:solidFill>
            <a:srgbClr val="F0EDE9"/>
          </a:solidFill>
          <a:ln/>
        </p:spPr>
      </p:sp>
      <p:sp>
        <p:nvSpPr>
          <p:cNvPr id="10" name="Text 7"/>
          <p:cNvSpPr/>
          <p:nvPr/>
        </p:nvSpPr>
        <p:spPr>
          <a:xfrm>
            <a:off x="7899103" y="2695043"/>
            <a:ext cx="3454413" cy="279400"/>
          </a:xfrm>
          <a:prstGeom prst="rect">
            <a:avLst/>
          </a:prstGeom>
          <a:noFill/>
          <a:ln/>
        </p:spPr>
        <p:txBody>
          <a:bodyPr wrap="none" lIns="0" tIns="0" rIns="0" bIns="0" rtlCol="0" anchor="t"/>
          <a:lstStyle/>
          <a:p>
            <a:pPr marL="0" indent="0" algn="l">
              <a:lnSpc>
                <a:spcPct val="92000"/>
              </a:lnSpc>
              <a:buNone/>
            </a:pPr>
            <a:r>
              <a:rPr lang="en-US" sz="2000" b="1" dirty="0">
                <a:solidFill>
                  <a:srgbClr val="000000"/>
                </a:solidFill>
                <a:latin typeface="Montserrat Bold" pitchFamily="34" charset="0"/>
                <a:ea typeface="Montserrat Bold" pitchFamily="34" charset="-122"/>
                <a:cs typeface="Montserrat Bold" pitchFamily="34" charset="-120"/>
              </a:rPr>
              <a:t>On-device</a:t>
            </a:r>
            <a:endParaRPr lang="en-US" sz="2000" dirty="0"/>
          </a:p>
        </p:txBody>
      </p:sp>
      <p:sp>
        <p:nvSpPr>
          <p:cNvPr id="11" name="Text 8"/>
          <p:cNvSpPr/>
          <p:nvPr/>
        </p:nvSpPr>
        <p:spPr>
          <a:xfrm>
            <a:off x="7899103" y="3057426"/>
            <a:ext cx="3454413" cy="72003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000000"/>
                </a:solidFill>
                <a:latin typeface="Inconsolata" pitchFamily="34" charset="0"/>
                <a:ea typeface="Inconsolata" pitchFamily="34" charset="-122"/>
                <a:cs typeface="Inconsolata" pitchFamily="34" charset="-120"/>
              </a:rPr>
              <a:t>Processes input on the phone; useful for low latency, offline use, and keeping data local.</a:t>
            </a:r>
            <a:endParaRPr lang="en-US" sz="1400" dirty="0"/>
          </a:p>
        </p:txBody>
      </p:sp>
      <p:sp>
        <p:nvSpPr>
          <p:cNvPr id="12" name="Shape 9"/>
          <p:cNvSpPr/>
          <p:nvPr/>
        </p:nvSpPr>
        <p:spPr>
          <a:xfrm>
            <a:off x="7670509" y="4158456"/>
            <a:ext cx="3911601" cy="1555055"/>
          </a:xfrm>
          <a:prstGeom prst="rect">
            <a:avLst/>
          </a:prstGeom>
          <a:solidFill>
            <a:srgbClr val="EAEEF2"/>
          </a:solidFill>
          <a:ln/>
        </p:spPr>
      </p:sp>
      <p:sp>
        <p:nvSpPr>
          <p:cNvPr id="13" name="Text 10"/>
          <p:cNvSpPr/>
          <p:nvPr/>
        </p:nvSpPr>
        <p:spPr>
          <a:xfrm>
            <a:off x="7899103" y="4402499"/>
            <a:ext cx="3454413"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Cloud-based</a:t>
            </a:r>
            <a:endParaRPr lang="en-US" sz="2000" dirty="0"/>
          </a:p>
        </p:txBody>
      </p:sp>
      <p:sp>
        <p:nvSpPr>
          <p:cNvPr id="14" name="Text 11"/>
          <p:cNvSpPr/>
          <p:nvPr/>
        </p:nvSpPr>
        <p:spPr>
          <a:xfrm>
            <a:off x="7899103" y="4764881"/>
            <a:ext cx="3454413" cy="72003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Sends data to a remote service; useful when a larger model or more compute is needed.</a:t>
            </a:r>
            <a:endParaRPr lang="en-US" sz="1400" dirty="0"/>
          </a:p>
        </p:txBody>
      </p:sp>
      <p:sp>
        <p:nvSpPr>
          <p:cNvPr id="15" name="Text 12"/>
          <p:cNvSpPr/>
          <p:nvPr/>
        </p:nvSpPr>
        <p:spPr>
          <a:xfrm>
            <a:off x="7670509" y="5792887"/>
            <a:ext cx="3911601"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Choose by privacy, speed, connectivity, model size, cost, and task complexity.</a:t>
            </a:r>
            <a:endParaRPr lang="en-US" sz="1400" dirty="0"/>
          </a:p>
        </p:txBody>
      </p:sp>
      <p:sp>
        <p:nvSpPr>
          <p:cNvPr id="16" name="Shape 13"/>
          <p:cNvSpPr/>
          <p:nvPr/>
        </p:nvSpPr>
        <p:spPr>
          <a:xfrm>
            <a:off x="0" y="6248400"/>
            <a:ext cx="12191695" cy="609600"/>
          </a:xfrm>
          <a:prstGeom prst="rect">
            <a:avLst/>
          </a:prstGeom>
          <a:solidFill>
            <a:srgbClr val="F7FBFF"/>
          </a:solidFill>
          <a:ln/>
        </p:spPr>
      </p:sp>
      <p:sp>
        <p:nvSpPr>
          <p:cNvPr id="17" name="Shape 14"/>
          <p:cNvSpPr/>
          <p:nvPr/>
        </p:nvSpPr>
        <p:spPr>
          <a:xfrm>
            <a:off x="0" y="6248400"/>
            <a:ext cx="12191695" cy="9525"/>
          </a:xfrm>
          <a:prstGeom prst="rect">
            <a:avLst/>
          </a:prstGeom>
          <a:solidFill>
            <a:srgbClr val="000000">
              <a:alpha val="20000"/>
            </a:srgbClr>
          </a:solidFill>
          <a:ln/>
        </p:spPr>
      </p:sp>
      <p:sp>
        <p:nvSpPr>
          <p:cNvPr id="18" name="Text 15"/>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19" name="Text 16"/>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20" name="Text 17"/>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07 / 10</a:t>
            </a:r>
            <a:endParaRPr lang="en-US" sz="1000" dirty="0"/>
          </a:p>
        </p:txBody>
      </p:sp>
      <p:sp>
        <p:nvSpPr>
          <p:cNvPr id="21" name="Text 18"/>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32118"/>
            <a:ext cx="6908627" cy="893961"/>
          </a:xfrm>
          <a:prstGeom prst="rect">
            <a:avLst/>
          </a:prstGeom>
          <a:noFill/>
          <a:ln/>
        </p:spPr>
        <p:txBody>
          <a:bodyPr wrap="square" lIns="0" tIns="0" rIns="0" bIns="0" rtlCol="0" anchor="t">
            <a:normAutofit/>
          </a:bodyPr>
          <a:lstStyle/>
          <a:p>
            <a:pPr marL="0" indent="0" algn="l">
              <a:lnSpc>
                <a:spcPct val="92000"/>
              </a:lnSpc>
              <a:buNone/>
            </a:pPr>
            <a:r>
              <a:rPr lang="en-US" sz="3200" b="1" dirty="0">
                <a:solidFill>
                  <a:srgbClr val="071B33"/>
                </a:solidFill>
                <a:latin typeface="Montserrat Bold" pitchFamily="34" charset="0"/>
                <a:ea typeface="Montserrat Bold" pitchFamily="34" charset="-122"/>
                <a:cs typeface="Montserrat Bold" pitchFamily="34" charset="-120"/>
              </a:rPr>
              <a:t>THE TOOLCHAIN CONNECTS CODE, MODELS, AND DEVICES</a:t>
            </a:r>
            <a:endParaRPr lang="en-US" sz="3200" dirty="0"/>
          </a:p>
        </p:txBody>
      </p:sp>
      <p:pic>
        <p:nvPicPr>
          <p:cNvPr id="3" name="Image 0" descr="preencoded.png"/>
          <p:cNvPicPr>
            <a:picLocks noChangeAspect="1"/>
          </p:cNvPicPr>
          <p:nvPr/>
        </p:nvPicPr>
        <p:blipFill>
          <a:blip r:embed="rId3"/>
          <a:stretch>
            <a:fillRect/>
          </a:stretch>
        </p:blipFill>
        <p:spPr>
          <a:xfrm>
            <a:off x="609585" y="1640086"/>
            <a:ext cx="444489" cy="444500"/>
          </a:xfrm>
          <a:prstGeom prst="rect">
            <a:avLst/>
          </a:prstGeom>
        </p:spPr>
      </p:pic>
      <p:sp>
        <p:nvSpPr>
          <p:cNvPr id="4" name="Text 1"/>
          <p:cNvSpPr/>
          <p:nvPr/>
        </p:nvSpPr>
        <p:spPr>
          <a:xfrm>
            <a:off x="609585" y="2179403"/>
            <a:ext cx="3454314"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Android Studio</a:t>
            </a:r>
            <a:endParaRPr lang="en-US" sz="2000" dirty="0"/>
          </a:p>
        </p:txBody>
      </p:sp>
      <p:sp>
        <p:nvSpPr>
          <p:cNvPr id="5" name="Text 2"/>
          <p:cNvSpPr/>
          <p:nvPr/>
        </p:nvSpPr>
        <p:spPr>
          <a:xfrm>
            <a:off x="609585" y="2541786"/>
            <a:ext cx="3454314"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Development environment for Android apps.</a:t>
            </a:r>
            <a:endParaRPr lang="en-US" sz="1400" dirty="0"/>
          </a:p>
        </p:txBody>
      </p:sp>
      <p:pic>
        <p:nvPicPr>
          <p:cNvPr id="6" name="Image 1" descr="preencoded.png"/>
          <p:cNvPicPr>
            <a:picLocks noChangeAspect="1"/>
          </p:cNvPicPr>
          <p:nvPr/>
        </p:nvPicPr>
        <p:blipFill>
          <a:blip r:embed="rId4"/>
          <a:stretch>
            <a:fillRect/>
          </a:stretch>
        </p:blipFill>
        <p:spPr>
          <a:xfrm>
            <a:off x="4063898" y="1640086"/>
            <a:ext cx="444489" cy="444500"/>
          </a:xfrm>
          <a:prstGeom prst="rect">
            <a:avLst/>
          </a:prstGeom>
        </p:spPr>
      </p:pic>
      <p:sp>
        <p:nvSpPr>
          <p:cNvPr id="7" name="Text 3"/>
          <p:cNvSpPr/>
          <p:nvPr/>
        </p:nvSpPr>
        <p:spPr>
          <a:xfrm>
            <a:off x="4063898" y="2179403"/>
            <a:ext cx="3454314"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Kotlin</a:t>
            </a:r>
            <a:endParaRPr lang="en-US" sz="2000" dirty="0"/>
          </a:p>
        </p:txBody>
      </p:sp>
      <p:sp>
        <p:nvSpPr>
          <p:cNvPr id="8" name="Text 4"/>
          <p:cNvSpPr/>
          <p:nvPr/>
        </p:nvSpPr>
        <p:spPr>
          <a:xfrm>
            <a:off x="4063898" y="2541786"/>
            <a:ext cx="3454314"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Modern language commonly used for Android development.</a:t>
            </a:r>
            <a:endParaRPr lang="en-US" sz="1400" dirty="0"/>
          </a:p>
        </p:txBody>
      </p:sp>
      <p:pic>
        <p:nvPicPr>
          <p:cNvPr id="9" name="Image 2" descr="preencoded.png"/>
          <p:cNvPicPr>
            <a:picLocks noChangeAspect="1"/>
          </p:cNvPicPr>
          <p:nvPr/>
        </p:nvPicPr>
        <p:blipFill>
          <a:blip r:embed="rId4"/>
          <a:stretch>
            <a:fillRect/>
          </a:stretch>
        </p:blipFill>
        <p:spPr>
          <a:xfrm>
            <a:off x="609585" y="3021806"/>
            <a:ext cx="444489" cy="444500"/>
          </a:xfrm>
          <a:prstGeom prst="rect">
            <a:avLst/>
          </a:prstGeom>
        </p:spPr>
      </p:pic>
      <p:sp>
        <p:nvSpPr>
          <p:cNvPr id="10" name="Text 5"/>
          <p:cNvSpPr/>
          <p:nvPr/>
        </p:nvSpPr>
        <p:spPr>
          <a:xfrm>
            <a:off x="609585" y="3561124"/>
            <a:ext cx="3454314"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Swift</a:t>
            </a:r>
            <a:endParaRPr lang="en-US" sz="2000" dirty="0"/>
          </a:p>
        </p:txBody>
      </p:sp>
      <p:sp>
        <p:nvSpPr>
          <p:cNvPr id="11" name="Text 6"/>
          <p:cNvSpPr/>
          <p:nvPr/>
        </p:nvSpPr>
        <p:spPr>
          <a:xfrm>
            <a:off x="609585" y="3923506"/>
            <a:ext cx="3454314"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Language for Apple platform development.</a:t>
            </a:r>
            <a:endParaRPr lang="en-US" sz="1400" dirty="0"/>
          </a:p>
        </p:txBody>
      </p:sp>
      <p:pic>
        <p:nvPicPr>
          <p:cNvPr id="12" name="Image 3" descr="preencoded.png"/>
          <p:cNvPicPr>
            <a:picLocks noChangeAspect="1"/>
          </p:cNvPicPr>
          <p:nvPr/>
        </p:nvPicPr>
        <p:blipFill>
          <a:blip r:embed="rId5"/>
          <a:stretch>
            <a:fillRect/>
          </a:stretch>
        </p:blipFill>
        <p:spPr>
          <a:xfrm>
            <a:off x="4063898" y="3021806"/>
            <a:ext cx="444489" cy="444500"/>
          </a:xfrm>
          <a:prstGeom prst="rect">
            <a:avLst/>
          </a:prstGeom>
        </p:spPr>
      </p:pic>
      <p:sp>
        <p:nvSpPr>
          <p:cNvPr id="13" name="Text 7"/>
          <p:cNvSpPr/>
          <p:nvPr/>
        </p:nvSpPr>
        <p:spPr>
          <a:xfrm>
            <a:off x="4063898" y="3561124"/>
            <a:ext cx="3454314"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Python</a:t>
            </a:r>
            <a:endParaRPr lang="en-US" sz="2000" dirty="0"/>
          </a:p>
        </p:txBody>
      </p:sp>
      <p:sp>
        <p:nvSpPr>
          <p:cNvPr id="14" name="Text 8"/>
          <p:cNvSpPr/>
          <p:nvPr/>
        </p:nvSpPr>
        <p:spPr>
          <a:xfrm>
            <a:off x="4063898" y="3923506"/>
            <a:ext cx="3454314"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Common language for data preparation and model experimentation.</a:t>
            </a:r>
            <a:endParaRPr lang="en-US" sz="1400" dirty="0"/>
          </a:p>
        </p:txBody>
      </p:sp>
      <p:pic>
        <p:nvPicPr>
          <p:cNvPr id="15" name="Image 4" descr="preencoded.png"/>
          <p:cNvPicPr>
            <a:picLocks noChangeAspect="1"/>
          </p:cNvPicPr>
          <p:nvPr/>
        </p:nvPicPr>
        <p:blipFill>
          <a:blip r:embed="rId6"/>
          <a:stretch>
            <a:fillRect/>
          </a:stretch>
        </p:blipFill>
        <p:spPr>
          <a:xfrm>
            <a:off x="609585" y="4403527"/>
            <a:ext cx="444489" cy="444500"/>
          </a:xfrm>
          <a:prstGeom prst="rect">
            <a:avLst/>
          </a:prstGeom>
        </p:spPr>
      </p:pic>
      <p:sp>
        <p:nvSpPr>
          <p:cNvPr id="16" name="Text 9"/>
          <p:cNvSpPr/>
          <p:nvPr/>
        </p:nvSpPr>
        <p:spPr>
          <a:xfrm>
            <a:off x="609585" y="4942844"/>
            <a:ext cx="3454314"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Google ML Kit</a:t>
            </a:r>
            <a:endParaRPr lang="en-US" sz="2000" dirty="0"/>
          </a:p>
        </p:txBody>
      </p:sp>
      <p:sp>
        <p:nvSpPr>
          <p:cNvPr id="17" name="Text 10"/>
          <p:cNvSpPr/>
          <p:nvPr/>
        </p:nvSpPr>
        <p:spPr>
          <a:xfrm>
            <a:off x="609585" y="5305227"/>
            <a:ext cx="3454314" cy="72003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Ready-to-use mobile APIs for vision, text, barcode, face, and other tasks; processing can run on-device.</a:t>
            </a:r>
            <a:endParaRPr lang="en-US" sz="1400" dirty="0"/>
          </a:p>
        </p:txBody>
      </p:sp>
      <p:pic>
        <p:nvPicPr>
          <p:cNvPr id="18" name="Image 5" descr="preencoded.png"/>
          <p:cNvPicPr>
            <a:picLocks noChangeAspect="1"/>
          </p:cNvPicPr>
          <p:nvPr/>
        </p:nvPicPr>
        <p:blipFill>
          <a:blip r:embed="rId7"/>
          <a:stretch>
            <a:fillRect/>
          </a:stretch>
        </p:blipFill>
        <p:spPr>
          <a:xfrm>
            <a:off x="4063898" y="4403527"/>
            <a:ext cx="444489" cy="444500"/>
          </a:xfrm>
          <a:prstGeom prst="rect">
            <a:avLst/>
          </a:prstGeom>
        </p:spPr>
      </p:pic>
      <p:sp>
        <p:nvSpPr>
          <p:cNvPr id="19" name="Text 11"/>
          <p:cNvSpPr/>
          <p:nvPr/>
        </p:nvSpPr>
        <p:spPr>
          <a:xfrm>
            <a:off x="4063898" y="4942844"/>
            <a:ext cx="3454314"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LiteRT and Apple Core ML</a:t>
            </a:r>
            <a:endParaRPr lang="en-US" sz="2000" dirty="0"/>
          </a:p>
        </p:txBody>
      </p:sp>
      <p:sp>
        <p:nvSpPr>
          <p:cNvPr id="20" name="Text 12"/>
          <p:cNvSpPr/>
          <p:nvPr/>
        </p:nvSpPr>
        <p:spPr>
          <a:xfrm>
            <a:off x="4063898" y="5305227"/>
            <a:ext cx="3454314"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Deployment technologies for running optimized models on supported devices.</a:t>
            </a:r>
            <a:endParaRPr lang="en-US" sz="1400" dirty="0"/>
          </a:p>
        </p:txBody>
      </p:sp>
      <p:pic>
        <p:nvPicPr>
          <p:cNvPr id="21" name="Image 6" descr="preencoded.png"/>
          <p:cNvPicPr>
            <a:picLocks noChangeAspect="1"/>
          </p:cNvPicPr>
          <p:nvPr/>
        </p:nvPicPr>
        <p:blipFill>
          <a:blip r:embed="rId8"/>
          <a:stretch>
            <a:fillRect/>
          </a:stretch>
        </p:blipFill>
        <p:spPr>
          <a:xfrm>
            <a:off x="8127797" y="0"/>
            <a:ext cx="4063898" cy="6634857"/>
          </a:xfrm>
          <a:prstGeom prst="rect">
            <a:avLst/>
          </a:prstGeom>
        </p:spPr>
      </p:pic>
      <p:sp>
        <p:nvSpPr>
          <p:cNvPr id="22" name="Shape 13"/>
          <p:cNvSpPr/>
          <p:nvPr/>
        </p:nvSpPr>
        <p:spPr>
          <a:xfrm>
            <a:off x="0" y="6248400"/>
            <a:ext cx="12191695" cy="609600"/>
          </a:xfrm>
          <a:prstGeom prst="rect">
            <a:avLst/>
          </a:prstGeom>
          <a:solidFill>
            <a:srgbClr val="F7FBFF"/>
          </a:solidFill>
          <a:ln/>
        </p:spPr>
      </p:sp>
      <p:sp>
        <p:nvSpPr>
          <p:cNvPr id="23" name="Shape 14"/>
          <p:cNvSpPr/>
          <p:nvPr/>
        </p:nvSpPr>
        <p:spPr>
          <a:xfrm>
            <a:off x="0" y="6248400"/>
            <a:ext cx="12191695" cy="9525"/>
          </a:xfrm>
          <a:prstGeom prst="rect">
            <a:avLst/>
          </a:prstGeom>
          <a:solidFill>
            <a:srgbClr val="000000">
              <a:alpha val="20000"/>
            </a:srgbClr>
          </a:solidFill>
          <a:ln/>
        </p:spPr>
      </p:sp>
      <p:sp>
        <p:nvSpPr>
          <p:cNvPr id="24" name="Text 15"/>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25" name="Text 16"/>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26" name="Text 17"/>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08 / 10</a:t>
            </a:r>
            <a:endParaRPr lang="en-US" sz="1000" dirty="0"/>
          </a:p>
        </p:txBody>
      </p:sp>
      <p:sp>
        <p:nvSpPr>
          <p:cNvPr id="27" name="Text 18"/>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30405"/>
            <a:ext cx="10972526" cy="402233"/>
          </a:xfrm>
          <a:prstGeom prst="rect">
            <a:avLst/>
          </a:prstGeom>
          <a:noFill/>
          <a:ln/>
        </p:spPr>
        <p:txBody>
          <a:bodyPr wrap="none" lIns="0" tIns="0" rIns="0" bIns="0" rtlCol="0" anchor="t"/>
          <a:lstStyle/>
          <a:p>
            <a:pPr marL="0" indent="0" algn="l">
              <a:lnSpc>
                <a:spcPct val="92000"/>
              </a:lnSpc>
              <a:buNone/>
            </a:pPr>
            <a:r>
              <a:rPr lang="en-US" sz="2900" b="1" dirty="0">
                <a:solidFill>
                  <a:srgbClr val="071B33"/>
                </a:solidFill>
                <a:latin typeface="Montserrat Bold" pitchFamily="34" charset="0"/>
                <a:ea typeface="Montserrat Bold" pitchFamily="34" charset="-122"/>
                <a:cs typeface="Montserrat Bold" pitchFamily="34" charset="-120"/>
              </a:rPr>
              <a:t>MOBILE AI SOLVES SMALL, USEFUL PROBLEMS</a:t>
            </a:r>
            <a:endParaRPr lang="en-US" sz="2900" dirty="0"/>
          </a:p>
        </p:txBody>
      </p:sp>
      <p:sp>
        <p:nvSpPr>
          <p:cNvPr id="3" name="Text 1"/>
          <p:cNvSpPr/>
          <p:nvPr/>
        </p:nvSpPr>
        <p:spPr>
          <a:xfrm>
            <a:off x="609585" y="1440611"/>
            <a:ext cx="6133381" cy="2727104"/>
          </a:xfrm>
          <a:prstGeom prst="rect">
            <a:avLst/>
          </a:prstGeom>
          <a:noFill/>
          <a:ln/>
        </p:spPr>
        <p:txBody>
          <a:bodyPr wrap="square" lIns="0" tIns="0" rIns="0" bIns="0" rtlCol="0" anchor="t">
            <a:normAutofit/>
          </a:bodyPr>
          <a:lstStyle/>
          <a:p>
            <a:pPr marL="172720" indent="-172720" algn="l">
              <a:lnSpc>
                <a:spcPct val="90000"/>
              </a:lnSpc>
              <a:buSzPct val="100000"/>
              <a:buChar char="•"/>
            </a:pPr>
            <a:r>
              <a:rPr lang="en-US" b="1" dirty="0">
                <a:solidFill>
                  <a:srgbClr val="16324F"/>
                </a:solidFill>
                <a:latin typeface="Inconsolata Bold" pitchFamily="34" charset="0"/>
                <a:ea typeface="Inconsolata Bold" pitchFamily="34" charset="-122"/>
                <a:cs typeface="Inconsolata Bold" pitchFamily="34" charset="-120"/>
              </a:rPr>
              <a:t>Navigation:</a:t>
            </a:r>
            <a:r>
              <a:rPr lang="en-US" dirty="0">
                <a:solidFill>
                  <a:srgbClr val="16324F"/>
                </a:solidFill>
                <a:latin typeface="Inconsolata" pitchFamily="34" charset="0"/>
                <a:ea typeface="Inconsolata" pitchFamily="34" charset="-122"/>
                <a:cs typeface="Inconsolata" pitchFamily="34" charset="-120"/>
              </a:rPr>
              <a:t> interpret location and movement data for route guidance.</a:t>
            </a:r>
            <a:endParaRPr lang="en-US" dirty="0"/>
          </a:p>
          <a:p>
            <a:pPr marL="172720" indent="-172720" algn="l">
              <a:lnSpc>
                <a:spcPct val="90000"/>
              </a:lnSpc>
              <a:buSzPct val="100000"/>
              <a:buChar char="•"/>
            </a:pPr>
            <a:r>
              <a:rPr lang="en-US" b="1" dirty="0">
                <a:solidFill>
                  <a:srgbClr val="16324F"/>
                </a:solidFill>
                <a:latin typeface="Inconsolata Bold" pitchFamily="34" charset="0"/>
                <a:ea typeface="Inconsolata Bold" pitchFamily="34" charset="-122"/>
                <a:cs typeface="Inconsolata Bold" pitchFamily="34" charset="-120"/>
              </a:rPr>
              <a:t>Photography:</a:t>
            </a:r>
            <a:r>
              <a:rPr lang="en-US" dirty="0">
                <a:solidFill>
                  <a:srgbClr val="16324F"/>
                </a:solidFill>
                <a:latin typeface="Inconsolata" pitchFamily="34" charset="0"/>
                <a:ea typeface="Inconsolata" pitchFamily="34" charset="-122"/>
                <a:cs typeface="Inconsolata" pitchFamily="34" charset="-120"/>
              </a:rPr>
              <a:t> detect faces, text, objects, or scenes to improve camera experiences.</a:t>
            </a:r>
            <a:endParaRPr lang="en-US" dirty="0"/>
          </a:p>
          <a:p>
            <a:pPr marL="172720" indent="-172720" algn="l">
              <a:lnSpc>
                <a:spcPct val="90000"/>
              </a:lnSpc>
              <a:buSzPct val="100000"/>
              <a:buChar char="•"/>
            </a:pPr>
            <a:r>
              <a:rPr lang="en-US" b="1" dirty="0">
                <a:solidFill>
                  <a:srgbClr val="16324F"/>
                </a:solidFill>
                <a:latin typeface="Inconsolata Bold" pitchFamily="34" charset="0"/>
                <a:ea typeface="Inconsolata Bold" pitchFamily="34" charset="-122"/>
                <a:cs typeface="Inconsolata Bold" pitchFamily="34" charset="-120"/>
              </a:rPr>
              <a:t>Shopping:</a:t>
            </a:r>
            <a:r>
              <a:rPr lang="en-US" dirty="0">
                <a:solidFill>
                  <a:srgbClr val="16324F"/>
                </a:solidFill>
                <a:latin typeface="Inconsolata" pitchFamily="34" charset="0"/>
                <a:ea typeface="Inconsolata" pitchFamily="34" charset="-122"/>
                <a:cs typeface="Inconsolata" pitchFamily="34" charset="-120"/>
              </a:rPr>
              <a:t> support visual search, product discovery, or personalized ranking.</a:t>
            </a:r>
            <a:endParaRPr lang="en-US" dirty="0"/>
          </a:p>
          <a:p>
            <a:pPr marL="172720" indent="-172720" algn="l">
              <a:lnSpc>
                <a:spcPct val="90000"/>
              </a:lnSpc>
              <a:buSzPct val="100000"/>
              <a:buChar char="•"/>
            </a:pPr>
            <a:r>
              <a:rPr lang="en-US" b="1" dirty="0">
                <a:solidFill>
                  <a:srgbClr val="16324F"/>
                </a:solidFill>
                <a:latin typeface="Inconsolata Bold" pitchFamily="34" charset="0"/>
                <a:ea typeface="Inconsolata Bold" pitchFamily="34" charset="-122"/>
                <a:cs typeface="Inconsolata Bold" pitchFamily="34" charset="-120"/>
              </a:rPr>
              <a:t>Banking:</a:t>
            </a:r>
            <a:r>
              <a:rPr lang="en-US" dirty="0">
                <a:solidFill>
                  <a:srgbClr val="16324F"/>
                </a:solidFill>
                <a:latin typeface="Inconsolata" pitchFamily="34" charset="0"/>
                <a:ea typeface="Inconsolata" pitchFamily="34" charset="-122"/>
                <a:cs typeface="Inconsolata" pitchFamily="34" charset="-120"/>
              </a:rPr>
              <a:t> assist with document capture, transaction review, or identity workflows.</a:t>
            </a:r>
            <a:endParaRPr lang="en-US" dirty="0"/>
          </a:p>
          <a:p>
            <a:pPr marL="172720" indent="-172720" algn="l">
              <a:lnSpc>
                <a:spcPct val="90000"/>
              </a:lnSpc>
              <a:buSzPct val="100000"/>
              <a:buChar char="•"/>
            </a:pPr>
            <a:r>
              <a:rPr lang="en-US" b="1" dirty="0">
                <a:solidFill>
                  <a:srgbClr val="16324F"/>
                </a:solidFill>
                <a:latin typeface="Inconsolata Bold" pitchFamily="34" charset="0"/>
                <a:ea typeface="Inconsolata Bold" pitchFamily="34" charset="-122"/>
                <a:cs typeface="Inconsolata Bold" pitchFamily="34" charset="-120"/>
              </a:rPr>
              <a:t>Accessibility:</a:t>
            </a:r>
            <a:r>
              <a:rPr lang="en-US" dirty="0">
                <a:solidFill>
                  <a:srgbClr val="16324F"/>
                </a:solidFill>
                <a:latin typeface="Inconsolata" pitchFamily="34" charset="0"/>
                <a:ea typeface="Inconsolata" pitchFamily="34" charset="-122"/>
                <a:cs typeface="Inconsolata" pitchFamily="34" charset="-120"/>
              </a:rPr>
              <a:t> convert speech to text, read visible text aloud, or describe visual content.</a:t>
            </a:r>
            <a:endParaRPr lang="en-US" dirty="0"/>
          </a:p>
        </p:txBody>
      </p:sp>
      <p:sp>
        <p:nvSpPr>
          <p:cNvPr id="4" name="Text 2"/>
          <p:cNvSpPr/>
          <p:nvPr/>
        </p:nvSpPr>
        <p:spPr>
          <a:xfrm>
            <a:off x="609585" y="4093569"/>
            <a:ext cx="6562462" cy="402232"/>
          </a:xfrm>
          <a:prstGeom prst="rect">
            <a:avLst/>
          </a:prstGeom>
          <a:noFill/>
          <a:ln/>
        </p:spPr>
        <p:txBody>
          <a:bodyPr wrap="square" lIns="0" tIns="0" rIns="0" bIns="0" rtlCol="0" anchor="t">
            <a:noAutofit/>
          </a:bodyPr>
          <a:lstStyle/>
          <a:p>
            <a:pPr marL="0" indent="0" algn="l">
              <a:lnSpc>
                <a:spcPct val="90000"/>
              </a:lnSpc>
              <a:buNone/>
            </a:pPr>
            <a:r>
              <a:rPr lang="en-US" b="1" dirty="0">
                <a:solidFill>
                  <a:srgbClr val="16324F"/>
                </a:solidFill>
                <a:latin typeface="Inconsolata Bold" pitchFamily="34" charset="0"/>
                <a:ea typeface="Inconsolata Bold" pitchFamily="34" charset="-122"/>
                <a:cs typeface="Inconsolata Bold" pitchFamily="34" charset="-120"/>
              </a:rPr>
              <a:t>Every use case still needs testing, consent, error handling, and a human-friendly fallback.</a:t>
            </a:r>
            <a:endParaRPr lang="en-US" dirty="0"/>
          </a:p>
        </p:txBody>
      </p:sp>
      <p:pic>
        <p:nvPicPr>
          <p:cNvPr id="5" name="Image 0" descr="preencoded.png"/>
          <p:cNvPicPr>
            <a:picLocks noChangeAspect="1"/>
          </p:cNvPicPr>
          <p:nvPr/>
        </p:nvPicPr>
        <p:blipFill>
          <a:blip r:embed="rId3"/>
          <a:stretch>
            <a:fillRect/>
          </a:stretch>
        </p:blipFill>
        <p:spPr>
          <a:xfrm>
            <a:off x="6857827" y="1440611"/>
            <a:ext cx="2225787" cy="1261311"/>
          </a:xfrm>
          <a:prstGeom prst="rect">
            <a:avLst/>
          </a:prstGeom>
        </p:spPr>
      </p:pic>
      <p:pic>
        <p:nvPicPr>
          <p:cNvPr id="6" name="Image 1" descr="preencoded.png"/>
          <p:cNvPicPr>
            <a:picLocks noChangeAspect="1"/>
          </p:cNvPicPr>
          <p:nvPr/>
        </p:nvPicPr>
        <p:blipFill>
          <a:blip r:embed="rId4"/>
          <a:stretch>
            <a:fillRect/>
          </a:stretch>
        </p:blipFill>
        <p:spPr>
          <a:xfrm>
            <a:off x="9356324" y="1440610"/>
            <a:ext cx="2225787" cy="1261311"/>
          </a:xfrm>
          <a:prstGeom prst="rect">
            <a:avLst/>
          </a:prstGeom>
        </p:spPr>
      </p:pic>
      <p:pic>
        <p:nvPicPr>
          <p:cNvPr id="7" name="Image 2" descr="preencoded.png"/>
          <p:cNvPicPr>
            <a:picLocks noChangeAspect="1"/>
          </p:cNvPicPr>
          <p:nvPr/>
        </p:nvPicPr>
        <p:blipFill>
          <a:blip r:embed="rId5"/>
          <a:stretch>
            <a:fillRect/>
          </a:stretch>
        </p:blipFill>
        <p:spPr>
          <a:xfrm>
            <a:off x="6857828" y="3109895"/>
            <a:ext cx="2225786" cy="1261310"/>
          </a:xfrm>
          <a:prstGeom prst="rect">
            <a:avLst/>
          </a:prstGeom>
        </p:spPr>
      </p:pic>
      <p:pic>
        <p:nvPicPr>
          <p:cNvPr id="8" name="Image 3" descr="preencoded.png"/>
          <p:cNvPicPr>
            <a:picLocks noChangeAspect="1"/>
          </p:cNvPicPr>
          <p:nvPr/>
        </p:nvPicPr>
        <p:blipFill>
          <a:blip r:embed="rId6"/>
          <a:stretch>
            <a:fillRect/>
          </a:stretch>
        </p:blipFill>
        <p:spPr>
          <a:xfrm>
            <a:off x="9352653" y="3109895"/>
            <a:ext cx="2225786" cy="1261310"/>
          </a:xfrm>
          <a:prstGeom prst="rect">
            <a:avLst/>
          </a:prstGeom>
        </p:spPr>
      </p:pic>
      <p:pic>
        <p:nvPicPr>
          <p:cNvPr id="9" name="Image 4" descr="preencoded.png"/>
          <p:cNvPicPr>
            <a:picLocks noChangeAspect="1"/>
          </p:cNvPicPr>
          <p:nvPr/>
        </p:nvPicPr>
        <p:blipFill>
          <a:blip r:embed="rId7"/>
          <a:stretch>
            <a:fillRect/>
          </a:stretch>
        </p:blipFill>
        <p:spPr>
          <a:xfrm>
            <a:off x="6857828" y="7006034"/>
            <a:ext cx="1523962" cy="863600"/>
          </a:xfrm>
          <a:prstGeom prst="rect">
            <a:avLst/>
          </a:prstGeom>
        </p:spPr>
      </p:pic>
      <p:sp>
        <p:nvSpPr>
          <p:cNvPr id="10" name="Shape 3"/>
          <p:cNvSpPr/>
          <p:nvPr/>
        </p:nvSpPr>
        <p:spPr>
          <a:xfrm>
            <a:off x="0" y="6248400"/>
            <a:ext cx="12191695" cy="609600"/>
          </a:xfrm>
          <a:prstGeom prst="rect">
            <a:avLst/>
          </a:prstGeom>
          <a:solidFill>
            <a:srgbClr val="F7FBFF"/>
          </a:solidFill>
          <a:ln/>
        </p:spPr>
      </p:sp>
      <p:sp>
        <p:nvSpPr>
          <p:cNvPr id="11" name="Shape 4"/>
          <p:cNvSpPr/>
          <p:nvPr/>
        </p:nvSpPr>
        <p:spPr>
          <a:xfrm>
            <a:off x="0" y="6248400"/>
            <a:ext cx="12191695" cy="9525"/>
          </a:xfrm>
          <a:prstGeom prst="rect">
            <a:avLst/>
          </a:prstGeom>
          <a:solidFill>
            <a:srgbClr val="000000">
              <a:alpha val="20000"/>
            </a:srgbClr>
          </a:solidFill>
          <a:ln/>
        </p:spPr>
      </p:sp>
      <p:sp>
        <p:nvSpPr>
          <p:cNvPr id="12" name="Text 5"/>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13" name="Text 6"/>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14" name="Text 7"/>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09 / 10</a:t>
            </a:r>
            <a:endParaRPr lang="en-US" sz="1000" dirty="0"/>
          </a:p>
        </p:txBody>
      </p:sp>
      <p:sp>
        <p:nvSpPr>
          <p:cNvPr id="15" name="Text 8"/>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980480"/>
            <a:ext cx="10972526" cy="1016000"/>
          </a:xfrm>
          <a:prstGeom prst="rect">
            <a:avLst/>
          </a:prstGeom>
          <a:noFill/>
          <a:ln/>
        </p:spPr>
        <p:txBody>
          <a:bodyPr wrap="square" lIns="0" tIns="0" rIns="0" bIns="0" rtlCol="0" anchor="t">
            <a:normAutofit/>
          </a:bodyPr>
          <a:lstStyle/>
          <a:p>
            <a:pPr marL="0" indent="0" algn="l">
              <a:lnSpc>
                <a:spcPct val="67000"/>
              </a:lnSpc>
              <a:buNone/>
            </a:pPr>
            <a:r>
              <a:rPr lang="en-US" sz="5000" b="1" dirty="0">
                <a:solidFill>
                  <a:srgbClr val="071B33"/>
                </a:solidFill>
                <a:latin typeface="Montserrat Bold" pitchFamily="34" charset="0"/>
                <a:ea typeface="Montserrat Bold" pitchFamily="34" charset="-122"/>
                <a:cs typeface="Montserrat Bold" pitchFamily="34" charset="-120"/>
              </a:rPr>
              <a:t>THE BENEFIT IS SPEED.</a:t>
            </a:r>
            <a:endParaRPr lang="en-US" sz="5000" dirty="0"/>
          </a:p>
          <a:p>
            <a:pPr marL="0" indent="0" algn="l">
              <a:lnSpc>
                <a:spcPct val="67000"/>
              </a:lnSpc>
              <a:buNone/>
            </a:pPr>
            <a:r>
              <a:rPr lang="en-US" sz="5000" b="1" dirty="0">
                <a:solidFill>
                  <a:srgbClr val="071B33"/>
                </a:solidFill>
                <a:latin typeface="Montserrat Bold" pitchFamily="34" charset="0"/>
                <a:ea typeface="Montserrat Bold" pitchFamily="34" charset="-122"/>
                <a:cs typeface="Montserrat Bold" pitchFamily="34" charset="-120"/>
              </a:rPr>
              <a:t>THE RISK IS TRUST.</a:t>
            </a:r>
            <a:endParaRPr lang="en-US" sz="5000" dirty="0"/>
          </a:p>
        </p:txBody>
      </p:sp>
      <p:sp>
        <p:nvSpPr>
          <p:cNvPr id="3" name="Shape 1"/>
          <p:cNvSpPr/>
          <p:nvPr/>
        </p:nvSpPr>
        <p:spPr>
          <a:xfrm>
            <a:off x="0" y="3078559"/>
            <a:ext cx="5943451" cy="3169841"/>
          </a:xfrm>
          <a:prstGeom prst="rect">
            <a:avLst/>
          </a:prstGeom>
          <a:solidFill>
            <a:srgbClr val="F0EDE9"/>
          </a:solidFill>
          <a:ln/>
        </p:spPr>
      </p:sp>
      <p:sp>
        <p:nvSpPr>
          <p:cNvPr id="4" name="Text 2"/>
          <p:cNvSpPr/>
          <p:nvPr/>
        </p:nvSpPr>
        <p:spPr>
          <a:xfrm>
            <a:off x="609585" y="3703602"/>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000000"/>
                </a:solidFill>
                <a:latin typeface="Montserrat Bold" pitchFamily="34" charset="0"/>
                <a:ea typeface="Montserrat Bold" pitchFamily="34" charset="-122"/>
                <a:cs typeface="Montserrat Bold" pitchFamily="34" charset="-120"/>
              </a:rPr>
              <a:t>Benefits</a:t>
            </a:r>
            <a:endParaRPr lang="en-US" sz="2000" dirty="0"/>
          </a:p>
        </p:txBody>
      </p:sp>
      <p:sp>
        <p:nvSpPr>
          <p:cNvPr id="5" name="Text 3"/>
          <p:cNvSpPr/>
          <p:nvPr/>
        </p:nvSpPr>
        <p:spPr>
          <a:xfrm>
            <a:off x="609585" y="4065984"/>
            <a:ext cx="4724282"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000000"/>
                </a:solidFill>
                <a:latin typeface="Inconsolata" pitchFamily="34" charset="0"/>
                <a:ea typeface="Inconsolata" pitchFamily="34" charset="-122"/>
                <a:cs typeface="Inconsolata" pitchFamily="34" charset="-120"/>
              </a:rPr>
              <a:t>Personalization, automation, fast responses, offline support, and more accessible interfaces.</a:t>
            </a:r>
            <a:endParaRPr lang="en-US" sz="1400" dirty="0"/>
          </a:p>
        </p:txBody>
      </p:sp>
      <p:sp>
        <p:nvSpPr>
          <p:cNvPr id="6" name="Text 4"/>
          <p:cNvSpPr/>
          <p:nvPr/>
        </p:nvSpPr>
        <p:spPr>
          <a:xfrm>
            <a:off x="609585" y="4796397"/>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000000"/>
                </a:solidFill>
                <a:latin typeface="Montserrat Bold" pitchFamily="34" charset="0"/>
                <a:ea typeface="Montserrat Bold" pitchFamily="34" charset="-122"/>
                <a:cs typeface="Montserrat Bold" pitchFamily="34" charset="-120"/>
              </a:rPr>
              <a:t>Mobile limits</a:t>
            </a:r>
            <a:endParaRPr lang="en-US" sz="2000" dirty="0"/>
          </a:p>
        </p:txBody>
      </p:sp>
      <p:sp>
        <p:nvSpPr>
          <p:cNvPr id="7" name="Text 5"/>
          <p:cNvSpPr/>
          <p:nvPr/>
        </p:nvSpPr>
        <p:spPr>
          <a:xfrm>
            <a:off x="609585" y="5158780"/>
            <a:ext cx="4724282"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000000"/>
                </a:solidFill>
                <a:latin typeface="Inconsolata" pitchFamily="34" charset="0"/>
                <a:ea typeface="Inconsolata" pitchFamily="34" charset="-122"/>
                <a:cs typeface="Inconsolata" pitchFamily="34" charset="-120"/>
              </a:rPr>
              <a:t>Battery use, memory, heat, network quality, and different device capabilities.</a:t>
            </a:r>
            <a:endParaRPr lang="en-US" sz="1400" dirty="0"/>
          </a:p>
        </p:txBody>
      </p:sp>
      <p:sp>
        <p:nvSpPr>
          <p:cNvPr id="8" name="Shape 6"/>
          <p:cNvSpPr/>
          <p:nvPr/>
        </p:nvSpPr>
        <p:spPr>
          <a:xfrm>
            <a:off x="6248244" y="3078559"/>
            <a:ext cx="5943451" cy="3169841"/>
          </a:xfrm>
          <a:prstGeom prst="rect">
            <a:avLst/>
          </a:prstGeom>
          <a:solidFill>
            <a:srgbClr val="EAEEF2"/>
          </a:solidFill>
          <a:ln/>
        </p:spPr>
      </p:sp>
      <p:sp>
        <p:nvSpPr>
          <p:cNvPr id="9" name="Text 7"/>
          <p:cNvSpPr/>
          <p:nvPr/>
        </p:nvSpPr>
        <p:spPr>
          <a:xfrm>
            <a:off x="6857828" y="3823557"/>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Challenges</a:t>
            </a:r>
            <a:endParaRPr lang="en-US" sz="2000" dirty="0"/>
          </a:p>
        </p:txBody>
      </p:sp>
      <p:sp>
        <p:nvSpPr>
          <p:cNvPr id="10" name="Text 8"/>
          <p:cNvSpPr/>
          <p:nvPr/>
        </p:nvSpPr>
        <p:spPr>
          <a:xfrm>
            <a:off x="6857828" y="4185940"/>
            <a:ext cx="4724282" cy="480020"/>
          </a:xfrm>
          <a:prstGeom prst="rect">
            <a:avLst/>
          </a:prstGeom>
          <a:noFill/>
          <a:ln/>
        </p:spPr>
        <p:txBody>
          <a:bodyPr wrap="square" lIns="0" tIns="0" rIns="0" bIns="0" rtlCol="0" anchor="t">
            <a:normAutofit/>
          </a:bodyPr>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Privacy, security, biased data, inaccurate predictions, and hard-to-explain outputs.</a:t>
            </a:r>
            <a:endParaRPr lang="en-US" sz="1400" dirty="0"/>
          </a:p>
        </p:txBody>
      </p:sp>
      <p:sp>
        <p:nvSpPr>
          <p:cNvPr id="11" name="Text 9"/>
          <p:cNvSpPr/>
          <p:nvPr/>
        </p:nvSpPr>
        <p:spPr>
          <a:xfrm>
            <a:off x="6857828" y="4916352"/>
            <a:ext cx="4724282" cy="279400"/>
          </a:xfrm>
          <a:prstGeom prst="rect">
            <a:avLst/>
          </a:prstGeom>
          <a:noFill/>
          <a:ln/>
        </p:spPr>
        <p:txBody>
          <a:bodyPr wrap="none" lIns="0" tIns="0" rIns="0" bIns="0" rtlCol="0" anchor="t"/>
          <a:lstStyle/>
          <a:p>
            <a:pPr marL="0" indent="0" algn="l">
              <a:lnSpc>
                <a:spcPct val="92000"/>
              </a:lnSpc>
              <a:buNone/>
            </a:pPr>
            <a:r>
              <a:rPr lang="en-US" sz="2000" b="1" dirty="0">
                <a:solidFill>
                  <a:srgbClr val="16324F"/>
                </a:solidFill>
                <a:latin typeface="Montserrat Bold" pitchFamily="34" charset="0"/>
                <a:ea typeface="Montserrat Bold" pitchFamily="34" charset="-122"/>
                <a:cs typeface="Montserrat Bold" pitchFamily="34" charset="-120"/>
              </a:rPr>
              <a:t>Responsible design</a:t>
            </a:r>
            <a:endParaRPr lang="en-US" sz="2000" dirty="0"/>
          </a:p>
        </p:txBody>
      </p:sp>
      <p:sp>
        <p:nvSpPr>
          <p:cNvPr id="12" name="Text 10"/>
          <p:cNvSpPr/>
          <p:nvPr/>
        </p:nvSpPr>
        <p:spPr>
          <a:xfrm>
            <a:off x="6857828" y="5278735"/>
            <a:ext cx="5333867" cy="240010"/>
          </a:xfrm>
          <a:prstGeom prst="rect">
            <a:avLst/>
          </a:prstGeom>
          <a:noFill/>
          <a:ln/>
        </p:spPr>
        <p:txBody>
          <a:bodyPr wrap="none" lIns="0" tIns="0" rIns="0" bIns="0" rtlCol="0" anchor="t"/>
          <a:lstStyle/>
          <a:p>
            <a:pPr marL="0" indent="0" algn="l">
              <a:lnSpc>
                <a:spcPct val="112000"/>
              </a:lnSpc>
              <a:buNone/>
            </a:pPr>
            <a:r>
              <a:rPr lang="en-US" sz="1400" dirty="0">
                <a:solidFill>
                  <a:srgbClr val="16324F"/>
                </a:solidFill>
                <a:latin typeface="Inconsolata" pitchFamily="34" charset="0"/>
                <a:ea typeface="Inconsolata" pitchFamily="34" charset="-122"/>
                <a:cs typeface="Inconsolata" pitchFamily="34" charset="-120"/>
              </a:rPr>
              <a:t>Measure errors, protect data, and give users control.</a:t>
            </a:r>
            <a:endParaRPr lang="en-US" sz="1400" dirty="0"/>
          </a:p>
        </p:txBody>
      </p:sp>
      <p:sp>
        <p:nvSpPr>
          <p:cNvPr id="13" name="Shape 11"/>
          <p:cNvSpPr/>
          <p:nvPr/>
        </p:nvSpPr>
        <p:spPr>
          <a:xfrm>
            <a:off x="0" y="6248400"/>
            <a:ext cx="12191695" cy="609600"/>
          </a:xfrm>
          <a:prstGeom prst="rect">
            <a:avLst/>
          </a:prstGeom>
          <a:solidFill>
            <a:srgbClr val="F7FBFF"/>
          </a:solidFill>
          <a:ln/>
        </p:spPr>
      </p:sp>
      <p:sp>
        <p:nvSpPr>
          <p:cNvPr id="14" name="Shape 12"/>
          <p:cNvSpPr/>
          <p:nvPr/>
        </p:nvSpPr>
        <p:spPr>
          <a:xfrm>
            <a:off x="0" y="6248400"/>
            <a:ext cx="12191695" cy="9525"/>
          </a:xfrm>
          <a:prstGeom prst="rect">
            <a:avLst/>
          </a:prstGeom>
          <a:solidFill>
            <a:srgbClr val="000000">
              <a:alpha val="20000"/>
            </a:srgbClr>
          </a:solidFill>
          <a:ln/>
        </p:spPr>
      </p:sp>
      <p:sp>
        <p:nvSpPr>
          <p:cNvPr id="15" name="Text 13"/>
          <p:cNvSpPr/>
          <p:nvPr/>
        </p:nvSpPr>
        <p:spPr>
          <a:xfrm>
            <a:off x="177895" y="6469261"/>
            <a:ext cx="2475843"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AI &amp; ML IN MOBILE APPLICATIONS</a:t>
            </a:r>
            <a:endParaRPr lang="en-US" sz="1000" dirty="0"/>
          </a:p>
        </p:txBody>
      </p:sp>
      <p:sp>
        <p:nvSpPr>
          <p:cNvPr id="16" name="Text 14"/>
          <p:cNvSpPr/>
          <p:nvPr/>
        </p:nvSpPr>
        <p:spPr>
          <a:xfrm>
            <a:off x="5629333" y="6469261"/>
            <a:ext cx="1542714"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NAYANKUMAR MALI</a:t>
            </a:r>
            <a:endParaRPr lang="en-US" sz="1000" dirty="0"/>
          </a:p>
        </p:txBody>
      </p:sp>
      <p:sp>
        <p:nvSpPr>
          <p:cNvPr id="17" name="Text 15"/>
          <p:cNvSpPr/>
          <p:nvPr/>
        </p:nvSpPr>
        <p:spPr>
          <a:xfrm>
            <a:off x="11578439" y="6469261"/>
            <a:ext cx="613256" cy="167878"/>
          </a:xfrm>
          <a:prstGeom prst="rect">
            <a:avLst/>
          </a:prstGeom>
          <a:noFill/>
          <a:ln/>
        </p:spPr>
        <p:txBody>
          <a:bodyPr wrap="none" lIns="0" tIns="0" rIns="0" bIns="0" rtlCol="0" anchor="ctr"/>
          <a:lstStyle/>
          <a:p>
            <a:pPr marL="0" indent="0" algn="l">
              <a:lnSpc>
                <a:spcPct val="112000"/>
              </a:lnSpc>
              <a:buNone/>
            </a:pPr>
            <a:r>
              <a:rPr lang="en-US" sz="1000" dirty="0">
                <a:solidFill>
                  <a:srgbClr val="000000"/>
                </a:solidFill>
                <a:latin typeface="Inconsolata" pitchFamily="34" charset="0"/>
                <a:ea typeface="Inconsolata" pitchFamily="34" charset="-122"/>
                <a:cs typeface="Inconsolata" pitchFamily="34" charset="-120"/>
              </a:rPr>
              <a:t>10 / 10</a:t>
            </a:r>
            <a:endParaRPr lang="en-US" sz="1000" dirty="0"/>
          </a:p>
        </p:txBody>
      </p:sp>
      <p:sp>
        <p:nvSpPr>
          <p:cNvPr id="18" name="Text 16"/>
          <p:cNvSpPr/>
          <p:nvPr/>
        </p:nvSpPr>
        <p:spPr>
          <a:xfrm>
            <a:off x="177895" y="220861"/>
            <a:ext cx="1791548" cy="167878"/>
          </a:xfrm>
          <a:prstGeom prst="rect">
            <a:avLst/>
          </a:prstGeom>
          <a:noFill/>
          <a:ln/>
        </p:spPr>
        <p:txBody>
          <a:bodyPr wrap="none" lIns="0" tIns="0" rIns="0" bIns="0" rtlCol="0" anchor="ctr"/>
          <a:lstStyle/>
          <a:p>
            <a:pPr marL="0" indent="0" algn="l">
              <a:lnSpc>
                <a:spcPct val="112000"/>
              </a:lnSpc>
              <a:buNone/>
            </a:pPr>
            <a:r>
              <a:rPr lang="en-US" sz="1000" dirty="0">
                <a:solidFill>
                  <a:srgbClr val="16324F"/>
                </a:solidFill>
                <a:latin typeface="Inconsolata" pitchFamily="34" charset="0"/>
                <a:ea typeface="Inconsolata" pitchFamily="34" charset="-122"/>
                <a:cs typeface="Inconsolata" pitchFamily="34" charset="-120"/>
              </a:rPr>
              <a:t>MOBILE AI / SEMINAR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1428</Words>
  <Application>Microsoft Office PowerPoint</Application>
  <PresentationFormat>Widescreen</PresentationFormat>
  <Paragraphs>151</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Inconsolata</vt:lpstr>
      <vt:lpstr>Inconsolata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Devansh</dc:creator>
  <cp:lastModifiedBy>Devansh Prajapati</cp:lastModifiedBy>
  <cp:revision>3</cp:revision>
  <dcterms:created xsi:type="dcterms:W3CDTF">2026-10-20T03:17:25Z</dcterms:created>
  <dcterms:modified xsi:type="dcterms:W3CDTF">2026-10-20T13:31:57Z</dcterms:modified>
</cp:coreProperties>
</file>